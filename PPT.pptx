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4" r:id="rId19"/>
    <p:sldId id="275" r:id="rId20"/>
    <p:sldId id="276" r:id="rId21"/>
    <p:sldId id="277" r:id="rId22"/>
    <p:sldId id="278" r:id="rId23"/>
    <p:sldId id="280" r:id="rId24"/>
    <p:sldId id="281" r:id="rId25"/>
    <p:sldId id="282" r:id="rId26"/>
    <p:sldId id="283" r:id="rId27"/>
    <p:sldId id="284" r:id="rId28"/>
    <p:sldId id="288" r:id="rId29"/>
    <p:sldId id="285" r:id="rId30"/>
    <p:sldId id="287" r:id="rId31"/>
    <p:sldId id="286" r:id="rId3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4" roundtripDataSignature="AMtx7miZ7hIdUIRJDO1u7xKF4IBPlsv81A=="/>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vancha Sanjana"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3-07-28T08:50:55.871" idx="1">
    <p:pos x="10" y="10"/>
    <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A4B7XPOg"/>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 name="Google Shape;4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 name="Google Shape;4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 name="Google Shape;5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 name="Google Shape;6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345173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8"/>
        <p:cNvGrpSpPr/>
        <p:nvPr/>
      </p:nvGrpSpPr>
      <p:grpSpPr>
        <a:xfrm>
          <a:off x="0" y="0"/>
          <a:ext cx="0" cy="0"/>
          <a:chOff x="0" y="0"/>
          <a:chExt cx="0" cy="0"/>
        </a:xfrm>
      </p:grpSpPr>
      <p:sp>
        <p:nvSpPr>
          <p:cNvPr id="19" name="Google Shape;19;p1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Times New Roman"/>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1" name="Google Shape;21;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9"/>
          <p:cNvSpPr txBox="1">
            <a:spLocks noGrp="1"/>
          </p:cNvSpPr>
          <p:nvPr>
            <p:ph type="ftr" idx="11"/>
          </p:nvPr>
        </p:nvSpPr>
        <p:spPr>
          <a:xfrm>
            <a:off x="4038600" y="6356350"/>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sp>
        <p:nvSpPr>
          <p:cNvPr id="25" name="Google Shape;25;p20"/>
          <p:cNvSpPr txBox="1">
            <a:spLocks noGrp="1"/>
          </p:cNvSpPr>
          <p:nvPr>
            <p:ph type="title"/>
          </p:nvPr>
        </p:nvSpPr>
        <p:spPr>
          <a:xfrm>
            <a:off x="1492898" y="365125"/>
            <a:ext cx="9860902"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0"/>
          <p:cNvSpPr txBox="1">
            <a:spLocks noGrp="1"/>
          </p:cNvSpPr>
          <p:nvPr>
            <p:ph type="ftr" idx="11"/>
          </p:nvPr>
        </p:nvSpPr>
        <p:spPr>
          <a:xfrm>
            <a:off x="4038600" y="6356350"/>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0"/>
        <p:cNvGrpSpPr/>
        <p:nvPr/>
      </p:nvGrpSpPr>
      <p:grpSpPr>
        <a:xfrm>
          <a:off x="0" y="0"/>
          <a:ext cx="0" cy="0"/>
          <a:chOff x="0" y="0"/>
          <a:chExt cx="0" cy="0"/>
        </a:xfrm>
      </p:grpSpPr>
      <p:sp>
        <p:nvSpPr>
          <p:cNvPr id="31" name="Google Shape;31;p21"/>
          <p:cNvSpPr txBox="1">
            <a:spLocks noGrp="1"/>
          </p:cNvSpPr>
          <p:nvPr>
            <p:ph type="title"/>
          </p:nvPr>
        </p:nvSpPr>
        <p:spPr>
          <a:xfrm>
            <a:off x="1492898" y="365125"/>
            <a:ext cx="9860902"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1"/>
          <p:cNvSpPr txBox="1">
            <a:spLocks noGrp="1"/>
          </p:cNvSpPr>
          <p:nvPr>
            <p:ph type="ftr" idx="11"/>
          </p:nvPr>
        </p:nvSpPr>
        <p:spPr>
          <a:xfrm>
            <a:off x="4038600" y="6356350"/>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35"/>
        <p:cNvGrpSpPr/>
        <p:nvPr/>
      </p:nvGrpSpPr>
      <p:grpSpPr>
        <a:xfrm>
          <a:off x="0" y="0"/>
          <a:ext cx="0" cy="0"/>
          <a:chOff x="0" y="0"/>
          <a:chExt cx="0" cy="0"/>
        </a:xfrm>
      </p:grpSpPr>
      <p:sp>
        <p:nvSpPr>
          <p:cNvPr id="36" name="Google Shape;36;p22"/>
          <p:cNvSpPr txBox="1">
            <a:spLocks noGrp="1"/>
          </p:cNvSpPr>
          <p:nvPr>
            <p:ph type="title"/>
          </p:nvPr>
        </p:nvSpPr>
        <p:spPr>
          <a:xfrm>
            <a:off x="1492898" y="365125"/>
            <a:ext cx="9860902"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2"/>
          <p:cNvSpPr txBox="1">
            <a:spLocks noGrp="1"/>
          </p:cNvSpPr>
          <p:nvPr>
            <p:ph type="ftr" idx="11"/>
          </p:nvPr>
        </p:nvSpPr>
        <p:spPr>
          <a:xfrm>
            <a:off x="4038600" y="6356350"/>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8"/>
          <p:cNvSpPr txBox="1">
            <a:spLocks noGrp="1"/>
          </p:cNvSpPr>
          <p:nvPr>
            <p:ph type="title"/>
          </p:nvPr>
        </p:nvSpPr>
        <p:spPr>
          <a:xfrm>
            <a:off x="1492898" y="365125"/>
            <a:ext cx="9860902"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Times New Roman"/>
              <a:buNone/>
              <a:defRPr sz="44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18"/>
          <p:cNvSpPr txBox="1">
            <a:spLocks noGrp="1"/>
          </p:cNvSpPr>
          <p:nvPr>
            <p:ph type="ftr" idx="11"/>
          </p:nvPr>
        </p:nvSpPr>
        <p:spPr>
          <a:xfrm>
            <a:off x="4038600" y="6356350"/>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800" b="1" i="0" u="none" strike="noStrike" cap="none">
                <a:solidFill>
                  <a:srgbClr val="C77327"/>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5" name="Google Shape;15;p18"/>
          <p:cNvPicPr preferRelativeResize="0"/>
          <p:nvPr/>
        </p:nvPicPr>
        <p:blipFill rotWithShape="1">
          <a:blip r:embed="rId6">
            <a:alphaModFix/>
          </a:blip>
          <a:srcRect/>
          <a:stretch/>
        </p:blipFill>
        <p:spPr>
          <a:xfrm>
            <a:off x="317151" y="318062"/>
            <a:ext cx="1175746" cy="1270065"/>
          </a:xfrm>
          <a:prstGeom prst="rect">
            <a:avLst/>
          </a:prstGeom>
          <a:noFill/>
          <a:ln>
            <a:noFill/>
          </a:ln>
        </p:spPr>
      </p:pic>
      <p:sp>
        <p:nvSpPr>
          <p:cNvPr id="16" name="Google Shape;16;p18"/>
          <p:cNvSpPr/>
          <p:nvPr/>
        </p:nvSpPr>
        <p:spPr>
          <a:xfrm>
            <a:off x="1492898" y="1548882"/>
            <a:ext cx="9860901" cy="141805"/>
          </a:xfrm>
          <a:prstGeom prst="roundRect">
            <a:avLst>
              <a:gd name="adj" fmla="val 16667"/>
            </a:avLst>
          </a:prstGeom>
          <a:solidFill>
            <a:srgbClr val="DA7214"/>
          </a:solidFill>
          <a:ln w="12700" cap="flat" cmpd="sng">
            <a:solidFill>
              <a:srgbClr val="FFC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7" name="Google Shape;17;p18"/>
          <p:cNvSpPr/>
          <p:nvPr/>
        </p:nvSpPr>
        <p:spPr>
          <a:xfrm>
            <a:off x="317150" y="1541064"/>
            <a:ext cx="1175749" cy="182000"/>
          </a:xfrm>
          <a:prstGeom prst="chevron">
            <a:avLst>
              <a:gd name="adj" fmla="val 50000"/>
            </a:avLst>
          </a:prstGeom>
          <a:solidFill>
            <a:srgbClr val="00B0F0"/>
          </a:solidFill>
          <a:ln w="12700" cap="flat" cmpd="sng">
            <a:solidFill>
              <a:srgbClr val="DA72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6" name="Google Shape;46;p1"/>
          <p:cNvSpPr txBox="1">
            <a:spLocks noGrp="1"/>
          </p:cNvSpPr>
          <p:nvPr>
            <p:ph type="ctrTitle"/>
          </p:nvPr>
        </p:nvSpPr>
        <p:spPr>
          <a:xfrm>
            <a:off x="965200" y="2478414"/>
            <a:ext cx="10261500" cy="1359000"/>
          </a:xfrm>
          <a:prstGeom prst="rect">
            <a:avLst/>
          </a:prstGeom>
          <a:noFill/>
          <a:ln>
            <a:noFill/>
          </a:ln>
        </p:spPr>
        <p:txBody>
          <a:bodyPr spcFirstLastPara="1" wrap="square" lIns="91425" tIns="45700" rIns="91425" bIns="45700" anchor="b" anchorCtr="0">
            <a:noAutofit/>
          </a:bodyPr>
          <a:lstStyle/>
          <a:p>
            <a:pPr marL="0" lvl="0" indent="0" rtl="0">
              <a:lnSpc>
                <a:spcPct val="107000"/>
              </a:lnSpc>
              <a:spcBef>
                <a:spcPts val="0"/>
              </a:spcBef>
              <a:spcAft>
                <a:spcPts val="0"/>
              </a:spcAft>
              <a:buClr>
                <a:schemeClr val="dk1"/>
              </a:buClr>
              <a:buSzPts val="3600"/>
              <a:buFont typeface="Times New Roman"/>
              <a:buNone/>
            </a:pPr>
            <a:r>
              <a:rPr lang="en-US" sz="3600" b="1" dirty="0"/>
              <a:t>IOT-based Dog Daycare Robotic System</a:t>
            </a:r>
            <a:endParaRPr sz="3600" b="1" dirty="0"/>
          </a:p>
        </p:txBody>
      </p:sp>
      <p:sp>
        <p:nvSpPr>
          <p:cNvPr id="47" name="Google Shape;47;p1"/>
          <p:cNvSpPr txBox="1">
            <a:spLocks noGrp="1"/>
          </p:cNvSpPr>
          <p:nvPr>
            <p:ph type="subTitle" idx="1"/>
          </p:nvPr>
        </p:nvSpPr>
        <p:spPr>
          <a:xfrm>
            <a:off x="8000989" y="4962758"/>
            <a:ext cx="4191000" cy="2105700"/>
          </a:xfrm>
          <a:prstGeom prst="rect">
            <a:avLst/>
          </a:prstGeom>
          <a:noFill/>
          <a:ln>
            <a:noFill/>
          </a:ln>
        </p:spPr>
        <p:txBody>
          <a:bodyPr spcFirstLastPara="1" wrap="square" lIns="91425" tIns="45700" rIns="91425" bIns="45700" anchor="t" anchorCtr="0">
            <a:normAutofit fontScale="47500" lnSpcReduction="20000"/>
          </a:bodyPr>
          <a:lstStyle/>
          <a:p>
            <a:pPr marL="0" lvl="0" indent="0" algn="l" rtl="0">
              <a:lnSpc>
                <a:spcPct val="90000"/>
              </a:lnSpc>
              <a:spcBef>
                <a:spcPts val="0"/>
              </a:spcBef>
              <a:spcAft>
                <a:spcPts val="0"/>
              </a:spcAft>
              <a:buClr>
                <a:schemeClr val="dk1"/>
              </a:buClr>
              <a:buSzPct val="45570"/>
              <a:buNone/>
            </a:pPr>
            <a:r>
              <a:rPr lang="en-US" sz="4827" b="1" dirty="0">
                <a:latin typeface="Times New Roman"/>
                <a:ea typeface="Times New Roman"/>
                <a:cs typeface="Times New Roman"/>
                <a:sym typeface="Times New Roman"/>
              </a:rPr>
              <a:t>By:</a:t>
            </a:r>
            <a:endParaRPr sz="4827" dirty="0"/>
          </a:p>
          <a:p>
            <a:pPr marL="0" lvl="0" indent="0" algn="l" rtl="0">
              <a:lnSpc>
                <a:spcPct val="90000"/>
              </a:lnSpc>
              <a:spcBef>
                <a:spcPts val="1000"/>
              </a:spcBef>
              <a:spcAft>
                <a:spcPts val="0"/>
              </a:spcAft>
              <a:buClr>
                <a:schemeClr val="dk1"/>
              </a:buClr>
              <a:buSzPct val="45570"/>
              <a:buNone/>
            </a:pPr>
            <a:r>
              <a:rPr lang="en-US" sz="4827" dirty="0">
                <a:latin typeface="Times New Roman"/>
                <a:ea typeface="Times New Roman"/>
                <a:cs typeface="Times New Roman"/>
                <a:sym typeface="Times New Roman"/>
              </a:rPr>
              <a:t>Avancha Sanjana [20911A3564]</a:t>
            </a:r>
            <a:endParaRPr sz="4827" dirty="0"/>
          </a:p>
          <a:p>
            <a:pPr marL="0" lvl="0" indent="0" algn="l" rtl="0">
              <a:lnSpc>
                <a:spcPct val="90000"/>
              </a:lnSpc>
              <a:spcBef>
                <a:spcPts val="1000"/>
              </a:spcBef>
              <a:spcAft>
                <a:spcPts val="0"/>
              </a:spcAft>
              <a:buClr>
                <a:schemeClr val="dk1"/>
              </a:buClr>
              <a:buSzPct val="45570"/>
              <a:buNone/>
            </a:pPr>
            <a:r>
              <a:rPr lang="en-US" sz="4827" dirty="0">
                <a:latin typeface="Times New Roman"/>
                <a:ea typeface="Times New Roman"/>
                <a:cs typeface="Times New Roman"/>
                <a:sym typeface="Times New Roman"/>
              </a:rPr>
              <a:t>Shiva Naina[20911A3534]</a:t>
            </a:r>
            <a:endParaRPr sz="4827" dirty="0"/>
          </a:p>
          <a:p>
            <a:pPr marL="0" lvl="0" indent="0" algn="l" rtl="0">
              <a:lnSpc>
                <a:spcPct val="90000"/>
              </a:lnSpc>
              <a:spcBef>
                <a:spcPts val="1000"/>
              </a:spcBef>
              <a:spcAft>
                <a:spcPts val="0"/>
              </a:spcAft>
              <a:buClr>
                <a:schemeClr val="dk1"/>
              </a:buClr>
              <a:buSzPct val="45570"/>
              <a:buNone/>
            </a:pPr>
            <a:r>
              <a:rPr lang="en-US" sz="4827" dirty="0" err="1">
                <a:latin typeface="Times New Roman"/>
                <a:ea typeface="Times New Roman"/>
                <a:cs typeface="Times New Roman"/>
                <a:sym typeface="Times New Roman"/>
              </a:rPr>
              <a:t>Preksha</a:t>
            </a:r>
            <a:r>
              <a:rPr lang="en-US" sz="4827" dirty="0">
                <a:latin typeface="Times New Roman"/>
                <a:ea typeface="Times New Roman"/>
                <a:cs typeface="Times New Roman"/>
                <a:sym typeface="Times New Roman"/>
              </a:rPr>
              <a:t> Gupta[20911A3550]</a:t>
            </a:r>
            <a:endParaRPr sz="4827" dirty="0"/>
          </a:p>
          <a:p>
            <a:pPr marL="0" lvl="0" indent="0" algn="l" rtl="0">
              <a:lnSpc>
                <a:spcPct val="90000"/>
              </a:lnSpc>
              <a:spcBef>
                <a:spcPts val="1000"/>
              </a:spcBef>
              <a:spcAft>
                <a:spcPts val="0"/>
              </a:spcAft>
              <a:buClr>
                <a:schemeClr val="dk1"/>
              </a:buClr>
              <a:buSzPct val="45570"/>
              <a:buNone/>
            </a:pPr>
            <a:r>
              <a:rPr lang="en-US" sz="4827" dirty="0" err="1">
                <a:latin typeface="Times New Roman"/>
                <a:ea typeface="Times New Roman"/>
                <a:cs typeface="Times New Roman"/>
                <a:sym typeface="Times New Roman"/>
              </a:rPr>
              <a:t>Karthikeshwar</a:t>
            </a:r>
            <a:r>
              <a:rPr lang="en-US" sz="4827" dirty="0">
                <a:latin typeface="Times New Roman"/>
                <a:ea typeface="Times New Roman"/>
                <a:cs typeface="Times New Roman"/>
                <a:sym typeface="Times New Roman"/>
              </a:rPr>
              <a:t> [20911A3522]</a:t>
            </a:r>
            <a:endParaRPr sz="4827" dirty="0"/>
          </a:p>
          <a:p>
            <a:pPr marL="0" lvl="0" indent="0" algn="r" rtl="0">
              <a:lnSpc>
                <a:spcPct val="90000"/>
              </a:lnSpc>
              <a:spcBef>
                <a:spcPts val="1000"/>
              </a:spcBef>
              <a:spcAft>
                <a:spcPts val="0"/>
              </a:spcAft>
              <a:buClr>
                <a:schemeClr val="dk1"/>
              </a:buClr>
              <a:buSzPct val="91666"/>
              <a:buNone/>
            </a:pPr>
            <a:endParaRPr dirty="0"/>
          </a:p>
          <a:p>
            <a:pPr marL="0" lvl="0" indent="0" algn="l" rtl="0">
              <a:lnSpc>
                <a:spcPct val="90000"/>
              </a:lnSpc>
              <a:spcBef>
                <a:spcPts val="1000"/>
              </a:spcBef>
              <a:spcAft>
                <a:spcPts val="0"/>
              </a:spcAft>
              <a:buClr>
                <a:schemeClr val="dk1"/>
              </a:buClr>
              <a:buSzPct val="100000"/>
              <a:buNone/>
            </a:pPr>
            <a:endParaRPr dirty="0">
              <a:latin typeface="Times New Roman"/>
              <a:ea typeface="Times New Roman"/>
              <a:cs typeface="Times New Roman"/>
              <a:sym typeface="Times New Roman"/>
            </a:endParaRPr>
          </a:p>
        </p:txBody>
      </p:sp>
      <p:sp>
        <p:nvSpPr>
          <p:cNvPr id="48" name="Google Shape;48;p1"/>
          <p:cNvSpPr txBox="1"/>
          <p:nvPr/>
        </p:nvSpPr>
        <p:spPr>
          <a:xfrm>
            <a:off x="1492898" y="177842"/>
            <a:ext cx="9860902" cy="117491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rgbClr val="002060"/>
              </a:buClr>
              <a:buSzPts val="3600"/>
              <a:buFont typeface="Times New Roman"/>
              <a:buNone/>
            </a:pPr>
            <a:r>
              <a:rPr lang="en-US" sz="3600" b="0" i="0" u="none" strike="noStrike" cap="none">
                <a:solidFill>
                  <a:srgbClr val="073763"/>
                </a:solidFill>
                <a:latin typeface="Times New Roman"/>
                <a:ea typeface="Times New Roman"/>
                <a:cs typeface="Times New Roman"/>
                <a:sym typeface="Times New Roman"/>
              </a:rPr>
              <a:t>VIDYA JYOTHI INSTITUTE OF TECHNOLOGY </a:t>
            </a:r>
            <a:endParaRPr sz="4000" b="0" i="0" u="none" strike="noStrike" cap="none">
              <a:solidFill>
                <a:srgbClr val="073763"/>
              </a:solidFill>
              <a:latin typeface="Times New Roman"/>
              <a:ea typeface="Times New Roman"/>
              <a:cs typeface="Times New Roman"/>
              <a:sym typeface="Times New Roman"/>
            </a:endParaRPr>
          </a:p>
          <a:p>
            <a:pPr marL="0" marR="0" lvl="0" indent="0" algn="ctr" rtl="0">
              <a:lnSpc>
                <a:spcPct val="90000"/>
              </a:lnSpc>
              <a:spcBef>
                <a:spcPts val="0"/>
              </a:spcBef>
              <a:spcAft>
                <a:spcPts val="0"/>
              </a:spcAft>
              <a:buClr>
                <a:srgbClr val="002060"/>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AN AUTONOMOUS INSTITUTION</a:t>
            </a:r>
            <a:endParaRPr sz="1400" b="0" i="0" u="none" strike="noStrike" cap="none">
              <a:solidFill>
                <a:schemeClr val="dk1"/>
              </a:solidFill>
              <a:latin typeface="Arial"/>
              <a:ea typeface="Arial"/>
              <a:cs typeface="Arial"/>
              <a:sym typeface="Arial"/>
            </a:endParaRPr>
          </a:p>
        </p:txBody>
      </p:sp>
      <p:sp>
        <p:nvSpPr>
          <p:cNvPr id="49" name="Google Shape;49;p1"/>
          <p:cNvSpPr txBox="1"/>
          <p:nvPr/>
        </p:nvSpPr>
        <p:spPr>
          <a:xfrm>
            <a:off x="922875" y="4863675"/>
            <a:ext cx="4002900" cy="1323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Times New Roman"/>
                <a:ea typeface="Times New Roman"/>
                <a:cs typeface="Times New Roman"/>
                <a:sym typeface="Times New Roman"/>
              </a:rPr>
              <a:t>Under the guidance:                                                                                                                                                                                                             Mr. </a:t>
            </a:r>
            <a:r>
              <a:rPr lang="en-US" sz="2000" b="1" dirty="0">
                <a:solidFill>
                  <a:schemeClr val="dk1"/>
                </a:solidFill>
                <a:latin typeface="Times New Roman"/>
                <a:ea typeface="Times New Roman"/>
                <a:cs typeface="Times New Roman"/>
                <a:sym typeface="Times New Roman"/>
              </a:rPr>
              <a:t>A. Vijay Kumar</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dirty="0">
                <a:solidFill>
                  <a:schemeClr val="dk1"/>
                </a:solidFill>
                <a:latin typeface="Times New Roman"/>
                <a:ea typeface="Times New Roman"/>
                <a:cs typeface="Times New Roman"/>
                <a:sym typeface="Times New Roman"/>
              </a:rPr>
              <a:t>Assistant Professor</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dirty="0">
                <a:solidFill>
                  <a:schemeClr val="dk1"/>
                </a:solidFill>
                <a:latin typeface="Times New Roman"/>
                <a:ea typeface="Times New Roman"/>
                <a:cs typeface="Times New Roman"/>
                <a:sym typeface="Times New Roman"/>
              </a:rPr>
              <a:t>Department of Artificial Intelligence</a:t>
            </a:r>
            <a:endParaRPr sz="1400" b="0" i="0" u="none" strike="noStrike" cap="none" dirty="0">
              <a:solidFill>
                <a:srgbClr val="000000"/>
              </a:solidFill>
              <a:latin typeface="Arial"/>
              <a:ea typeface="Arial"/>
              <a:cs typeface="Arial"/>
              <a:sym typeface="Arial"/>
            </a:endParaRPr>
          </a:p>
        </p:txBody>
      </p:sp>
      <p:sp>
        <p:nvSpPr>
          <p:cNvPr id="50" name="Google Shape;50;p1"/>
          <p:cNvSpPr/>
          <p:nvPr/>
        </p:nvSpPr>
        <p:spPr>
          <a:xfrm>
            <a:off x="3547965" y="1643235"/>
            <a:ext cx="4505400" cy="835200"/>
          </a:xfrm>
          <a:prstGeom prst="rect">
            <a:avLst/>
          </a:prstGeom>
          <a:solidFill>
            <a:schemeClr val="accent1"/>
          </a:solidFill>
          <a:ln w="25400" cap="flat" cmpd="sng">
            <a:solidFill>
              <a:srgbClr val="153E4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Arial"/>
                <a:ea typeface="Arial"/>
                <a:cs typeface="Arial"/>
                <a:sym typeface="Arial"/>
              </a:rPr>
              <a:t>DEPARTMENT OF ARTIFICIAL INTELLIGENCE</a:t>
            </a: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2"/>
          <p:cNvSpPr txBox="1">
            <a:spLocks noGrp="1"/>
          </p:cNvSpPr>
          <p:nvPr>
            <p:ph type="title"/>
          </p:nvPr>
        </p:nvSpPr>
        <p:spPr>
          <a:xfrm>
            <a:off x="1492898" y="365125"/>
            <a:ext cx="9860902"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b="1" dirty="0"/>
              <a:t>Abstract</a:t>
            </a:r>
            <a:endParaRPr b="1" dirty="0"/>
          </a:p>
        </p:txBody>
      </p:sp>
      <p:sp>
        <p:nvSpPr>
          <p:cNvPr id="56" name="Google Shape;56;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p>
            <a:pPr marL="114300" indent="0" algn="just">
              <a:buNone/>
            </a:pPr>
            <a:r>
              <a:rPr lang="en-US" sz="2000" dirty="0">
                <a:solidFill>
                  <a:schemeClr val="tx1"/>
                </a:solidFill>
                <a:latin typeface="Times New Roman" panose="02020603050405020304" pitchFamily="18" charset="0"/>
                <a:ea typeface="Times New Roman"/>
                <a:cs typeface="Times New Roman" panose="02020603050405020304" pitchFamily="18" charset="0"/>
                <a:sym typeface="Times New Roman"/>
              </a:rPr>
              <a:t>Today automation technology is a trend that is easy to access, user friendly  and easy to observe. Having pets can be a joy in our lives. Feeding pets is a  major task and the purpose of this article is to automatically feed the pet when  the owner is away from home. Over the past few years, many researchers have  developed an automatic feeding machine, but their functionality is limited to  the home. This advanced machine can provide real time food to the animal  and monitor the animal's behavior. The IoT Based Automatic pet food feeder  uses ESP-32 CAM camara module, Ultrasonic sensor, Motor control module,  and consists of an interface with DC servo motor, and other hardware  equipment. A software code is dumped into the micro controller to perform  operations of rotating motors. The web base application  developed by the PHP and HTML programming language and the real time  data link with firebase database. The whole feeder system is controlled using  a mobile phone. The user sends signals to the micro controller using mobile  application through cloud. When the DC servo motor runs, the motor rotates  the propeller which is in the feeding device. Using of ultrasonic sensor to get  pet foods scale on real time.ESP32- cam to get video input to web application  and could watch the behavior of the pet.</a:t>
            </a:r>
          </a:p>
          <a:p>
            <a:endParaRPr sz="370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57" name="Google Shape;57;p2"/>
          <p:cNvSpPr txBox="1">
            <a:spLocks noGrp="1"/>
          </p:cNvSpPr>
          <p:nvPr>
            <p:ph type="ftr" idx="11"/>
          </p:nvPr>
        </p:nvSpPr>
        <p:spPr>
          <a:xfrm>
            <a:off x="4038600" y="6356350"/>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Department of Artificial Intelligence</a:t>
            </a:r>
            <a:endParaRPr dirty="0"/>
          </a:p>
        </p:txBody>
      </p:sp>
      <p:sp>
        <p:nvSpPr>
          <p:cNvPr id="58" name="Google Shape;5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02/02/2024</a:t>
            </a:r>
            <a:endParaRPr/>
          </a:p>
        </p:txBody>
      </p:sp>
      <p:sp>
        <p:nvSpPr>
          <p:cNvPr id="59" name="Google Shape;59;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3"/>
          <p:cNvSpPr txBox="1">
            <a:spLocks noGrp="1"/>
          </p:cNvSpPr>
          <p:nvPr>
            <p:ph type="title"/>
          </p:nvPr>
        </p:nvSpPr>
        <p:spPr>
          <a:xfrm>
            <a:off x="1492898" y="365125"/>
            <a:ext cx="9860902"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b="1" dirty="0"/>
              <a:t>Abstract</a:t>
            </a:r>
            <a:endParaRPr b="1" dirty="0"/>
          </a:p>
        </p:txBody>
      </p:sp>
      <p:sp>
        <p:nvSpPr>
          <p:cNvPr id="65" name="Google Shape;65;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457200" lvl="0" indent="0" algn="just" rtl="0">
              <a:lnSpc>
                <a:spcPct val="90000"/>
              </a:lnSpc>
              <a:spcBef>
                <a:spcPts val="1000"/>
              </a:spcBef>
              <a:spcAft>
                <a:spcPts val="0"/>
              </a:spcAft>
              <a:buNone/>
            </a:pPr>
            <a:r>
              <a:rPr lang="en-US" sz="2471" b="1" dirty="0">
                <a:latin typeface="Times New Roman"/>
                <a:ea typeface="Times New Roman"/>
                <a:cs typeface="Times New Roman"/>
                <a:sym typeface="Times New Roman"/>
              </a:rPr>
              <a:t>Keywords:</a:t>
            </a:r>
            <a:r>
              <a:rPr lang="en-US" sz="2971" dirty="0">
                <a:latin typeface="Times New Roman"/>
                <a:ea typeface="Times New Roman"/>
                <a:cs typeface="Times New Roman"/>
                <a:sym typeface="Times New Roman"/>
              </a:rPr>
              <a:t> </a:t>
            </a:r>
            <a:endParaRPr sz="2971" dirty="0">
              <a:latin typeface="Times New Roman"/>
              <a:ea typeface="Times New Roman"/>
              <a:cs typeface="Times New Roman"/>
              <a:sym typeface="Times New Roman"/>
            </a:endParaRPr>
          </a:p>
          <a:p>
            <a:pPr marL="457200" lvl="0" indent="0" algn="just" rtl="0">
              <a:spcBef>
                <a:spcPts val="1000"/>
              </a:spcBef>
              <a:spcAft>
                <a:spcPts val="0"/>
              </a:spcAft>
              <a:buClr>
                <a:schemeClr val="dk1"/>
              </a:buClr>
              <a:buSzPts val="1100"/>
              <a:buFont typeface="Arial"/>
              <a:buNone/>
            </a:pPr>
            <a:r>
              <a:rPr lang="en-US" sz="2000" dirty="0">
                <a:solidFill>
                  <a:schemeClr val="tx1"/>
                </a:solidFill>
                <a:highlight>
                  <a:srgbClr val="FFFFFF"/>
                </a:highlight>
                <a:latin typeface="Times New Roman" panose="02020603050405020304" pitchFamily="18" charset="0"/>
                <a:cs typeface="Times New Roman" panose="02020603050405020304" pitchFamily="18" charset="0"/>
              </a:rPr>
              <a:t>IOT, Dog daycare robot, Pet monitoring, Automated feeding, Remote care, Animal well-being, Timely pet care, Surveillance technology, Pet-friendly robotics, Comprehensive pet support.</a:t>
            </a:r>
            <a:endParaRPr sz="2000" dirty="0">
              <a:solidFill>
                <a:schemeClr val="tx1"/>
              </a:solidFill>
              <a:highlight>
                <a:srgbClr val="FFFFFF"/>
              </a:highlight>
              <a:latin typeface="Times New Roman" panose="02020603050405020304" pitchFamily="18" charset="0"/>
              <a:cs typeface="Times New Roman" panose="02020603050405020304" pitchFamily="18" charset="0"/>
            </a:endParaRPr>
          </a:p>
          <a:p>
            <a:pPr marL="457200" lvl="0" indent="0" algn="just" rtl="0">
              <a:lnSpc>
                <a:spcPct val="90000"/>
              </a:lnSpc>
              <a:spcBef>
                <a:spcPts val="1000"/>
              </a:spcBef>
              <a:spcAft>
                <a:spcPts val="0"/>
              </a:spcAft>
              <a:buNone/>
            </a:pPr>
            <a:endParaRPr sz="2000" dirty="0">
              <a:latin typeface="Times New Roman" panose="02020603050405020304" pitchFamily="18" charset="0"/>
              <a:ea typeface="Times New Roman"/>
              <a:cs typeface="Times New Roman" panose="02020603050405020304" pitchFamily="18" charset="0"/>
              <a:sym typeface="Times New Roman"/>
            </a:endParaRPr>
          </a:p>
          <a:p>
            <a:pPr marL="457200" lvl="0" indent="0" algn="l" rtl="0">
              <a:lnSpc>
                <a:spcPct val="90000"/>
              </a:lnSpc>
              <a:spcBef>
                <a:spcPts val="1000"/>
              </a:spcBef>
              <a:spcAft>
                <a:spcPts val="0"/>
              </a:spcAft>
              <a:buNone/>
            </a:pPr>
            <a:endParaRPr sz="2971" dirty="0">
              <a:latin typeface="Times New Roman"/>
              <a:ea typeface="Times New Roman"/>
              <a:cs typeface="Times New Roman"/>
              <a:sym typeface="Times New Roman"/>
            </a:endParaRPr>
          </a:p>
        </p:txBody>
      </p:sp>
      <p:sp>
        <p:nvSpPr>
          <p:cNvPr id="66" name="Google Shape;66;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r>
              <a:rPr lang="en-US"/>
              <a:t>02/02/2024</a:t>
            </a:r>
            <a:endParaRPr/>
          </a:p>
        </p:txBody>
      </p:sp>
      <p:sp>
        <p:nvSpPr>
          <p:cNvPr id="67" name="Google Shape;67;p3"/>
          <p:cNvSpPr txBox="1">
            <a:spLocks noGrp="1"/>
          </p:cNvSpPr>
          <p:nvPr>
            <p:ph type="ftr" idx="11"/>
          </p:nvPr>
        </p:nvSpPr>
        <p:spPr>
          <a:xfrm>
            <a:off x="4038600" y="6356350"/>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Department of Artificial Intelligence</a:t>
            </a:r>
            <a:endParaRPr dirty="0"/>
          </a:p>
        </p:txBody>
      </p:sp>
      <p:sp>
        <p:nvSpPr>
          <p:cNvPr id="68" name="Google Shape;68;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FF1ED-4DAE-3055-A965-93C6D9528955}"/>
              </a:ext>
            </a:extLst>
          </p:cNvPr>
          <p:cNvSpPr>
            <a:spLocks noGrp="1"/>
          </p:cNvSpPr>
          <p:nvPr>
            <p:ph type="title"/>
          </p:nvPr>
        </p:nvSpPr>
        <p:spPr/>
        <p:txBody>
          <a:bodyPr/>
          <a:lstStyle/>
          <a:p>
            <a:r>
              <a:rPr lang="en-US" b="1" dirty="0"/>
              <a:t>Introduction</a:t>
            </a:r>
            <a:endParaRPr lang="en-IN" b="1" dirty="0"/>
          </a:p>
        </p:txBody>
      </p:sp>
      <p:sp>
        <p:nvSpPr>
          <p:cNvPr id="3" name="Text Placeholder 2">
            <a:extLst>
              <a:ext uri="{FF2B5EF4-FFF2-40B4-BE49-F238E27FC236}">
                <a16:creationId xmlns:a16="http://schemas.microsoft.com/office/drawing/2014/main" id="{82A660BE-BC32-E2F6-AE05-D7D40503707D}"/>
              </a:ext>
            </a:extLst>
          </p:cNvPr>
          <p:cNvSpPr>
            <a:spLocks noGrp="1"/>
          </p:cNvSpPr>
          <p:nvPr>
            <p:ph type="body" idx="1"/>
          </p:nvPr>
        </p:nvSpPr>
        <p:spPr>
          <a:xfrm>
            <a:off x="838200" y="1825625"/>
            <a:ext cx="11007436" cy="4816244"/>
          </a:xfrm>
        </p:spPr>
        <p:txBody>
          <a:bodyPr>
            <a:normAutofit fontScale="47500" lnSpcReduction="20000"/>
          </a:bodyPr>
          <a:lstStyle/>
          <a:p>
            <a:pPr algn="just"/>
            <a:r>
              <a:rPr lang="en-US" sz="4200" dirty="0">
                <a:latin typeface="Times New Roman" panose="02020603050405020304" pitchFamily="18" charset="0"/>
                <a:cs typeface="Times New Roman" panose="02020603050405020304" pitchFamily="18" charset="0"/>
              </a:rPr>
              <a:t>In the area of wireless telecommunications, a new technology known as  the Internet of Things (IoT) has received a huge interest in academia and  industry over the last decades. These technologies have started to  transform our lives in every way. The invention of the smartphone was  the catalyst for the most significant transformation. Since then, we may  have seen an increase in smart devices such as apps, games and tools with  various functions.</a:t>
            </a:r>
          </a:p>
          <a:p>
            <a:pPr algn="just"/>
            <a:r>
              <a:rPr lang="en-US" sz="4200" dirty="0">
                <a:latin typeface="Times New Roman" panose="02020603050405020304" pitchFamily="18" charset="0"/>
                <a:cs typeface="Times New Roman" panose="02020603050405020304" pitchFamily="18" charset="0"/>
              </a:rPr>
              <a:t>Those are acting by communicating with smartphones, which are carried by the majority of individuals nowadays . As a result,  we might refer to IoT as a new Internet concept in the twenty-first century  . New services that can be easily implemented around our real life  can use the above concepts and technologies.</a:t>
            </a:r>
          </a:p>
          <a:p>
            <a:pPr algn="just"/>
            <a:r>
              <a:rPr lang="en-US" sz="4200" dirty="0">
                <a:latin typeface="Times New Roman" panose="02020603050405020304" pitchFamily="18" charset="0"/>
                <a:cs typeface="Times New Roman" panose="02020603050405020304" pitchFamily="18" charset="0"/>
              </a:rPr>
              <a:t>In the modern generation, almost everybody wants a pet because they  believe that having a pet in the house reduces daily stress, boredom, and  loneliness. However, in a developing country, citizen activity is at an all-  time high, reducing the ability to provide necessary food and water for  pets regularly.</a:t>
            </a:r>
          </a:p>
          <a:p>
            <a:pPr algn="just"/>
            <a:r>
              <a:rPr lang="en-US" sz="4200" dirty="0">
                <a:latin typeface="Times New Roman" panose="02020603050405020304" pitchFamily="18" charset="0"/>
                <a:cs typeface="Times New Roman" panose="02020603050405020304" pitchFamily="18" charset="0"/>
              </a:rPr>
              <a:t>They are busy with various activities and have little time to  keep an eye on their pets at home. In the current scenario, it is critical to  provide food to pets in a variable quantity at a designated time. The pet  food feeders’ market is also related to intelligent technologies with the  Internet of Things (IoT) and smartphones, which can provide convenient  services with various aspects for pet owners. </a:t>
            </a:r>
          </a:p>
          <a:p>
            <a:endParaRPr lang="en-IN" dirty="0"/>
          </a:p>
        </p:txBody>
      </p:sp>
      <p:sp>
        <p:nvSpPr>
          <p:cNvPr id="4" name="Slide Number Placeholder 3">
            <a:extLst>
              <a:ext uri="{FF2B5EF4-FFF2-40B4-BE49-F238E27FC236}">
                <a16:creationId xmlns:a16="http://schemas.microsoft.com/office/drawing/2014/main" id="{EF3B763D-A491-1B1C-2A6D-D9C0CDEFA23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extLst>
      <p:ext uri="{BB962C8B-B14F-4D97-AF65-F5344CB8AC3E}">
        <p14:creationId xmlns:p14="http://schemas.microsoft.com/office/powerpoint/2010/main" val="38891474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60F92-98A6-3751-3BE4-DF39D9B73E14}"/>
              </a:ext>
            </a:extLst>
          </p:cNvPr>
          <p:cNvSpPr>
            <a:spLocks noGrp="1"/>
          </p:cNvSpPr>
          <p:nvPr>
            <p:ph type="title"/>
          </p:nvPr>
        </p:nvSpPr>
        <p:spPr/>
        <p:txBody>
          <a:bodyPr/>
          <a:lstStyle/>
          <a:p>
            <a:r>
              <a:rPr lang="en-US" b="1" dirty="0"/>
              <a:t>Literature Survey</a:t>
            </a:r>
            <a:endParaRPr lang="en-IN" b="1" dirty="0"/>
          </a:p>
        </p:txBody>
      </p:sp>
      <p:sp>
        <p:nvSpPr>
          <p:cNvPr id="3" name="Text Placeholder 2">
            <a:extLst>
              <a:ext uri="{FF2B5EF4-FFF2-40B4-BE49-F238E27FC236}">
                <a16:creationId xmlns:a16="http://schemas.microsoft.com/office/drawing/2014/main" id="{7306CCC5-D84C-FDE9-8847-3636F2629A2E}"/>
              </a:ext>
            </a:extLst>
          </p:cNvPr>
          <p:cNvSpPr>
            <a:spLocks noGrp="1"/>
          </p:cNvSpPr>
          <p:nvPr>
            <p:ph type="body" idx="1"/>
          </p:nvPr>
        </p:nvSpPr>
        <p:spPr>
          <a:xfrm>
            <a:off x="838200" y="1825625"/>
            <a:ext cx="10515600" cy="4895850"/>
          </a:xfrm>
        </p:spPr>
        <p:txBody>
          <a:bodyPr>
            <a:normAutofit fontScale="62500" lnSpcReduction="20000"/>
          </a:bodyPr>
          <a:lstStyle/>
          <a:p>
            <a:pPr algn="just"/>
            <a:r>
              <a:rPr lang="en-US" sz="3200" dirty="0">
                <a:latin typeface="Times New Roman" panose="02020603050405020304" pitchFamily="18" charset="0"/>
                <a:cs typeface="Times New Roman" panose="02020603050405020304" pitchFamily="18" charset="0"/>
              </a:rPr>
              <a:t>There are many various types of pet food feeders on the market nowadays  attempting to solve the problem of  making sure that each animal has access  to a healthy scale of food throughout the day, regardless of the owner's  schedule.</a:t>
            </a:r>
          </a:p>
          <a:p>
            <a:pPr algn="just"/>
            <a:r>
              <a:rPr lang="en-US" sz="3200" dirty="0">
                <a:latin typeface="Times New Roman" panose="02020603050405020304" pitchFamily="18" charset="0"/>
                <a:cs typeface="Times New Roman" panose="02020603050405020304" pitchFamily="18" charset="0"/>
              </a:rPr>
              <a:t>"Smart Pet Feeder" has shown a prototype is offered to address the issue of supplying food and water for all types of pets when the owner is away from  home, such as during a lockdown situation.</a:t>
            </a:r>
          </a:p>
          <a:p>
            <a:pPr algn="just"/>
            <a:r>
              <a:rPr lang="en-US" sz="3200" dirty="0">
                <a:latin typeface="Times New Roman" panose="02020603050405020304" pitchFamily="18" charset="0"/>
                <a:cs typeface="Times New Roman" panose="02020603050405020304" pitchFamily="18" charset="0"/>
              </a:rPr>
              <a:t>The owner can provide food and water to their pet on their schedule by using this prototype. </a:t>
            </a:r>
          </a:p>
          <a:p>
            <a:pPr algn="just"/>
            <a:r>
              <a:rPr lang="en-US" sz="3200" dirty="0">
                <a:latin typeface="Times New Roman" panose="02020603050405020304" pitchFamily="18" charset="0"/>
                <a:cs typeface="Times New Roman" panose="02020603050405020304" pitchFamily="18" charset="0"/>
              </a:rPr>
              <a:t>A servomotor has been  added to the bowl to control the discharge of food through a PVC conduit. In  the system the owner can assign the timing and quantity of food through a  keyboard to supply food depending on the instantaneous weight of the food  in the bowl.</a:t>
            </a:r>
          </a:p>
          <a:p>
            <a:pPr algn="just"/>
            <a:r>
              <a:rPr lang="en-US" sz="3200" dirty="0">
                <a:latin typeface="Times New Roman" panose="02020603050405020304" pitchFamily="18" charset="0"/>
                <a:cs typeface="Times New Roman" panose="02020603050405020304" pitchFamily="18" charset="0"/>
              </a:rPr>
              <a:t>"Smart Pet Monitoring and Feeding Based on Feedback Control System"  was designed to produce the impact of continuous work in automation. </a:t>
            </a:r>
          </a:p>
          <a:p>
            <a:pPr algn="just"/>
            <a:r>
              <a:rPr lang="en-US" sz="3200" dirty="0">
                <a:latin typeface="Times New Roman" panose="02020603050405020304" pitchFamily="18" charset="0"/>
                <a:cs typeface="Times New Roman" panose="02020603050405020304" pitchFamily="18" charset="0"/>
              </a:rPr>
              <a:t>The IoT can also be used to record and monitor  the system. The machine's basis of operation is that the food is stored in  a silo with a screw conveyor inside that feeds the dog food. </a:t>
            </a:r>
          </a:p>
          <a:p>
            <a:pPr algn="just"/>
            <a:r>
              <a:rPr lang="en-US" sz="3200" dirty="0">
                <a:latin typeface="Times New Roman" panose="02020603050405020304" pitchFamily="18" charset="0"/>
                <a:cs typeface="Times New Roman" panose="02020603050405020304" pitchFamily="18" charset="0"/>
              </a:rPr>
              <a:t>Every meal is weighted and  scheduled for each mash and ensures that the dog gets the proper food at  each meal. Second, the action is controlled by an IoT system operated by  a mobile phone, and the system can be monitored at any time.</a:t>
            </a:r>
          </a:p>
          <a:p>
            <a:endParaRPr lang="en-IN" dirty="0"/>
          </a:p>
        </p:txBody>
      </p:sp>
      <p:sp>
        <p:nvSpPr>
          <p:cNvPr id="4" name="Slide Number Placeholder 3">
            <a:extLst>
              <a:ext uri="{FF2B5EF4-FFF2-40B4-BE49-F238E27FC236}">
                <a16:creationId xmlns:a16="http://schemas.microsoft.com/office/drawing/2014/main" id="{C8BBC899-D7B1-95DC-0D81-2D9F3C7C553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Tree>
    <p:extLst>
      <p:ext uri="{BB962C8B-B14F-4D97-AF65-F5344CB8AC3E}">
        <p14:creationId xmlns:p14="http://schemas.microsoft.com/office/powerpoint/2010/main" val="38780113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470F8-E31F-9F90-25AD-4647DEAB73C0}"/>
              </a:ext>
            </a:extLst>
          </p:cNvPr>
          <p:cNvSpPr>
            <a:spLocks noGrp="1"/>
          </p:cNvSpPr>
          <p:nvPr>
            <p:ph type="title"/>
          </p:nvPr>
        </p:nvSpPr>
        <p:spPr/>
        <p:txBody>
          <a:bodyPr/>
          <a:lstStyle/>
          <a:p>
            <a:r>
              <a:rPr lang="en-US" b="1" dirty="0"/>
              <a:t>Existing system</a:t>
            </a:r>
            <a:endParaRPr lang="en-IN" b="1" dirty="0"/>
          </a:p>
        </p:txBody>
      </p:sp>
      <p:sp>
        <p:nvSpPr>
          <p:cNvPr id="3" name="Text Placeholder 2">
            <a:extLst>
              <a:ext uri="{FF2B5EF4-FFF2-40B4-BE49-F238E27FC236}">
                <a16:creationId xmlns:a16="http://schemas.microsoft.com/office/drawing/2014/main" id="{EFE1D259-3CE6-ECDB-93F7-97DBE011C033}"/>
              </a:ext>
            </a:extLst>
          </p:cNvPr>
          <p:cNvSpPr>
            <a:spLocks noGrp="1"/>
          </p:cNvSpPr>
          <p:nvPr>
            <p:ph type="body" idx="1"/>
          </p:nvPr>
        </p:nvSpPr>
        <p:spPr>
          <a:xfrm>
            <a:off x="838200" y="1825624"/>
            <a:ext cx="7482840" cy="4600113"/>
          </a:xfrm>
        </p:spPr>
        <p:txBody>
          <a:bodyPr/>
          <a:lstStyle/>
          <a:p>
            <a:pPr algn="just"/>
            <a:r>
              <a:rPr lang="en-IN" altLang="en-US" sz="2000" dirty="0">
                <a:latin typeface="Times New Roman" panose="02020603050405020304" pitchFamily="18" charset="0"/>
                <a:cs typeface="Times New Roman" panose="02020603050405020304" pitchFamily="18" charset="0"/>
              </a:rPr>
              <a:t>In the existing system pet feeding is manual or timer based but dog taking feed cant be known by user as there is no camera interface </a:t>
            </a:r>
          </a:p>
          <a:p>
            <a:pPr algn="just"/>
            <a:r>
              <a:rPr lang="en-US" sz="2000" b="1" dirty="0">
                <a:latin typeface="Times New Roman"/>
                <a:ea typeface="Times New Roman"/>
                <a:cs typeface="Times New Roman"/>
                <a:sym typeface="Times New Roman"/>
              </a:rPr>
              <a:t>Disadvantages of Existing System</a:t>
            </a:r>
          </a:p>
          <a:p>
            <a:pPr algn="just"/>
            <a:r>
              <a:rPr lang="en-US" sz="2000" b="1" dirty="0">
                <a:latin typeface="Times New Roman" panose="02020603050405020304" pitchFamily="18" charset="0"/>
                <a:cs typeface="Times New Roman" panose="02020603050405020304" pitchFamily="18" charset="0"/>
              </a:rPr>
              <a:t>Maintenance and technical issues: </a:t>
            </a:r>
            <a:r>
              <a:rPr lang="en-US" sz="2000" dirty="0">
                <a:latin typeface="Times New Roman" panose="02020603050405020304" pitchFamily="18" charset="0"/>
                <a:cs typeface="Times New Roman" panose="02020603050405020304" pitchFamily="18" charset="0"/>
              </a:rPr>
              <a:t>Robots can encounter technical problems, malfunctions, or require regular maintenance. This can result in downtime, leaving dogs without proper care until the issues are resolved.</a:t>
            </a:r>
          </a:p>
          <a:p>
            <a:pPr algn="just"/>
            <a:r>
              <a:rPr lang="en-US" sz="2000" b="1" dirty="0">
                <a:latin typeface="Times New Roman" panose="02020603050405020304" pitchFamily="18" charset="0"/>
                <a:cs typeface="Times New Roman" panose="02020603050405020304" pitchFamily="18" charset="0"/>
              </a:rPr>
              <a:t>No camera interface: </a:t>
            </a:r>
            <a:r>
              <a:rPr lang="en-US" sz="2000" dirty="0">
                <a:latin typeface="Times New Roman" panose="02020603050405020304" pitchFamily="18" charset="0"/>
                <a:cs typeface="Times New Roman" panose="02020603050405020304" pitchFamily="18" charset="0"/>
              </a:rPr>
              <a:t>The existing IoT dog daycare robot lacks a camera interface, limiting the ability to visually monitor and assess the well-being of the dogs remotely. This absence of real-time visual feedback could hinder effective oversight and responsiveness to potential issues.</a:t>
            </a:r>
          </a:p>
          <a:p>
            <a:pPr algn="just"/>
            <a:endParaRPr lang="en-US" sz="2000" b="1" dirty="0">
              <a:latin typeface="Times New Roman" panose="02020603050405020304" pitchFamily="18" charset="0"/>
              <a:cs typeface="Times New Roman" panose="02020603050405020304" pitchFamily="18" charset="0"/>
            </a:endParaRPr>
          </a:p>
          <a:p>
            <a:endParaRPr lang="en-US" dirty="0"/>
          </a:p>
          <a:p>
            <a:endParaRPr lang="en-IN" dirty="0"/>
          </a:p>
        </p:txBody>
      </p:sp>
      <p:sp>
        <p:nvSpPr>
          <p:cNvPr id="4" name="Slide Number Placeholder 3">
            <a:extLst>
              <a:ext uri="{FF2B5EF4-FFF2-40B4-BE49-F238E27FC236}">
                <a16:creationId xmlns:a16="http://schemas.microsoft.com/office/drawing/2014/main" id="{B1E41136-0CB0-FE48-31E2-5EBED7DA07C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pic>
        <p:nvPicPr>
          <p:cNvPr id="5" name="Content Placeholder 5">
            <a:extLst>
              <a:ext uri="{FF2B5EF4-FFF2-40B4-BE49-F238E27FC236}">
                <a16:creationId xmlns:a16="http://schemas.microsoft.com/office/drawing/2014/main" id="{F764D248-EF39-31F3-1C95-FA464558F81E}"/>
              </a:ext>
            </a:extLst>
          </p:cNvPr>
          <p:cNvPicPr>
            <a:picLocks noGrp="1" noChangeAspect="1"/>
          </p:cNvPicPr>
          <p:nvPr>
            <p:ph idx="1"/>
          </p:nvPr>
        </p:nvPicPr>
        <p:blipFill>
          <a:blip r:embed="rId2"/>
          <a:stretch>
            <a:fillRect/>
          </a:stretch>
        </p:blipFill>
        <p:spPr>
          <a:xfrm>
            <a:off x="8532321" y="2774544"/>
            <a:ext cx="3165765" cy="2818649"/>
          </a:xfrm>
          <a:prstGeom prst="rect">
            <a:avLst/>
          </a:prstGeom>
        </p:spPr>
      </p:pic>
    </p:spTree>
    <p:extLst>
      <p:ext uri="{BB962C8B-B14F-4D97-AF65-F5344CB8AC3E}">
        <p14:creationId xmlns:p14="http://schemas.microsoft.com/office/powerpoint/2010/main" val="39130977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A77E3-8263-1890-F05D-3F0A71609645}"/>
              </a:ext>
            </a:extLst>
          </p:cNvPr>
          <p:cNvSpPr>
            <a:spLocks noGrp="1"/>
          </p:cNvSpPr>
          <p:nvPr>
            <p:ph type="title"/>
          </p:nvPr>
        </p:nvSpPr>
        <p:spPr/>
        <p:txBody>
          <a:bodyPr/>
          <a:lstStyle/>
          <a:p>
            <a:r>
              <a:rPr lang="en-US" b="1" dirty="0"/>
              <a:t>Proposed System (Innovation)</a:t>
            </a:r>
            <a:endParaRPr lang="en-IN" b="1" dirty="0"/>
          </a:p>
        </p:txBody>
      </p:sp>
      <p:sp>
        <p:nvSpPr>
          <p:cNvPr id="3" name="Text Placeholder 2">
            <a:extLst>
              <a:ext uri="{FF2B5EF4-FFF2-40B4-BE49-F238E27FC236}">
                <a16:creationId xmlns:a16="http://schemas.microsoft.com/office/drawing/2014/main" id="{F9582741-37D8-429A-9CF7-9DC90BFDA910}"/>
              </a:ext>
            </a:extLst>
          </p:cNvPr>
          <p:cNvSpPr>
            <a:spLocks noGrp="1"/>
          </p:cNvSpPr>
          <p:nvPr>
            <p:ph type="body" idx="1"/>
          </p:nvPr>
        </p:nvSpPr>
        <p:spPr/>
        <p:txBody>
          <a:bodyPr>
            <a:normAutofit/>
          </a:bodyPr>
          <a:lstStyle/>
          <a:p>
            <a:pPr algn="just"/>
            <a:r>
              <a:rPr lang="en-US" sz="2000" dirty="0">
                <a:latin typeface="Times New Roman" panose="02020603050405020304" pitchFamily="18" charset="0"/>
                <a:cs typeface="Times New Roman" panose="02020603050405020304" pitchFamily="18" charset="0"/>
              </a:rPr>
              <a:t>In the proposed system WIFI control robot will be used for feeding the pet.</a:t>
            </a:r>
          </a:p>
          <a:p>
            <a:pPr algn="just"/>
            <a:r>
              <a:rPr lang="en-US" sz="2000" dirty="0">
                <a:latin typeface="Times New Roman" panose="02020603050405020304" pitchFamily="18" charset="0"/>
                <a:cs typeface="Times New Roman" panose="02020603050405020304" pitchFamily="18" charset="0"/>
              </a:rPr>
              <a:t>One web application will be prepared for having control of feeding the pet.</a:t>
            </a:r>
          </a:p>
          <a:p>
            <a:pPr algn="just"/>
            <a:r>
              <a:rPr lang="en-US" sz="2000" dirty="0">
                <a:latin typeface="Times New Roman" panose="02020603050405020304" pitchFamily="18" charset="0"/>
                <a:cs typeface="Times New Roman" panose="02020603050405020304" pitchFamily="18" charset="0"/>
              </a:rPr>
              <a:t>Video feed will be available in the web application.</a:t>
            </a:r>
          </a:p>
          <a:p>
            <a:pPr algn="just"/>
            <a:r>
              <a:rPr lang="en-US" sz="2000" dirty="0">
                <a:latin typeface="Times New Roman" panose="02020603050405020304" pitchFamily="18" charset="0"/>
                <a:cs typeface="Times New Roman" panose="02020603050405020304" pitchFamily="18" charset="0"/>
              </a:rPr>
              <a:t>Robot is remotely control.</a:t>
            </a:r>
          </a:p>
          <a:p>
            <a:pPr algn="just"/>
            <a:r>
              <a:rPr lang="en-US" sz="2000" dirty="0">
                <a:latin typeface="Times New Roman" panose="02020603050405020304" pitchFamily="18" charset="0"/>
                <a:cs typeface="Times New Roman" panose="02020603050405020304" pitchFamily="18" charset="0"/>
              </a:rPr>
              <a:t>Robot having ultrasonic sensor for alert purpose.</a:t>
            </a:r>
          </a:p>
          <a:p>
            <a:pPr algn="just"/>
            <a:r>
              <a:rPr lang="en-US" sz="2000" dirty="0">
                <a:latin typeface="Times New Roman" panose="02020603050405020304" pitchFamily="18" charset="0"/>
                <a:cs typeface="Times New Roman" panose="02020603050405020304" pitchFamily="18" charset="0"/>
              </a:rPr>
              <a:t>In the proposed system one robot is prepared, it is connected with WIFI camera.</a:t>
            </a:r>
          </a:p>
          <a:p>
            <a:pPr algn="just"/>
            <a:r>
              <a:rPr lang="en-US" sz="2000" dirty="0">
                <a:latin typeface="Times New Roman" panose="02020603050405020304" pitchFamily="18" charset="0"/>
                <a:cs typeface="Times New Roman" panose="02020603050405020304" pitchFamily="18" charset="0"/>
              </a:rPr>
              <a:t>Dog can be monitored remotely using mobile phone</a:t>
            </a:r>
          </a:p>
          <a:p>
            <a:pPr algn="just"/>
            <a:r>
              <a:rPr lang="en-US" sz="2000" dirty="0">
                <a:latin typeface="Times New Roman" panose="02020603050405020304" pitchFamily="18" charset="0"/>
                <a:cs typeface="Times New Roman" panose="02020603050405020304" pitchFamily="18" charset="0"/>
              </a:rPr>
              <a:t>Live images will be updated on web server</a:t>
            </a:r>
          </a:p>
          <a:p>
            <a:pPr algn="just"/>
            <a:r>
              <a:rPr lang="en-US" sz="2000" dirty="0">
                <a:latin typeface="Times New Roman" panose="02020603050405020304" pitchFamily="18" charset="0"/>
                <a:cs typeface="Times New Roman" panose="02020603050405020304" pitchFamily="18" charset="0"/>
              </a:rPr>
              <a:t>Feed control can be done using web application by watching dog in the camera</a:t>
            </a:r>
          </a:p>
          <a:p>
            <a:pPr algn="just"/>
            <a:r>
              <a:rPr lang="en-US" sz="2000" dirty="0">
                <a:latin typeface="Times New Roman" panose="02020603050405020304" pitchFamily="18" charset="0"/>
                <a:cs typeface="Times New Roman" panose="02020603050405020304" pitchFamily="18" charset="0"/>
              </a:rPr>
              <a:t>Feeder robot will have two trays for feeding one for dry feed and other for water</a:t>
            </a:r>
          </a:p>
          <a:p>
            <a:pPr algn="just"/>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FBA66BC-DDE5-C4C8-A743-18B21486919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Tree>
    <p:extLst>
      <p:ext uri="{BB962C8B-B14F-4D97-AF65-F5344CB8AC3E}">
        <p14:creationId xmlns:p14="http://schemas.microsoft.com/office/powerpoint/2010/main" val="1672668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27757-A892-A825-44BB-BFCB75DF9F6F}"/>
              </a:ext>
            </a:extLst>
          </p:cNvPr>
          <p:cNvSpPr>
            <a:spLocks noGrp="1"/>
          </p:cNvSpPr>
          <p:nvPr>
            <p:ph type="title"/>
          </p:nvPr>
        </p:nvSpPr>
        <p:spPr/>
        <p:txBody>
          <a:bodyPr/>
          <a:lstStyle/>
          <a:p>
            <a:r>
              <a:rPr lang="en-US" b="1" dirty="0"/>
              <a:t>Proposed System (Innovation)</a:t>
            </a:r>
            <a:endParaRPr lang="en-IN" b="1" dirty="0"/>
          </a:p>
        </p:txBody>
      </p:sp>
      <p:sp>
        <p:nvSpPr>
          <p:cNvPr id="3" name="Text Placeholder 2">
            <a:extLst>
              <a:ext uri="{FF2B5EF4-FFF2-40B4-BE49-F238E27FC236}">
                <a16:creationId xmlns:a16="http://schemas.microsoft.com/office/drawing/2014/main" id="{E3A5989E-A0B4-D33B-B20E-FA843AD6EBEB}"/>
              </a:ext>
            </a:extLst>
          </p:cNvPr>
          <p:cNvSpPr>
            <a:spLocks noGrp="1"/>
          </p:cNvSpPr>
          <p:nvPr>
            <p:ph type="body" idx="1"/>
          </p:nvPr>
        </p:nvSpPr>
        <p:spPr>
          <a:xfrm>
            <a:off x="838200" y="1825624"/>
            <a:ext cx="10515600" cy="5032375"/>
          </a:xfrm>
        </p:spPr>
        <p:txBody>
          <a:bodyPr>
            <a:normAutofit/>
          </a:bodyPr>
          <a:lstStyle/>
          <a:p>
            <a:r>
              <a:rPr lang="en-US" sz="2000" b="1" u="sng" dirty="0">
                <a:latin typeface="Times New Roman"/>
                <a:ea typeface="Times New Roman"/>
                <a:cs typeface="Times New Roman"/>
                <a:sym typeface="Times New Roman"/>
              </a:rPr>
              <a:t>Advantages of Proposed System</a:t>
            </a:r>
          </a:p>
          <a:p>
            <a:pPr marL="114300" indent="0">
              <a:buNone/>
            </a:pPr>
            <a:endParaRPr lang="en-US" sz="2000" b="1" dirty="0">
              <a:latin typeface="Times New Roman"/>
              <a:ea typeface="Times New Roman"/>
              <a:cs typeface="Times New Roman"/>
              <a:sym typeface="Times New Roman"/>
            </a:endParaRPr>
          </a:p>
          <a:p>
            <a:pPr algn="just"/>
            <a:r>
              <a:rPr lang="en-US" sz="2000" b="1" dirty="0">
                <a:latin typeface="Times New Roman"/>
                <a:ea typeface="Times New Roman"/>
                <a:cs typeface="Times New Roman"/>
                <a:sym typeface="Times New Roman"/>
              </a:rPr>
              <a:t>Real-time Monitoring:</a:t>
            </a:r>
          </a:p>
          <a:p>
            <a:pPr algn="just"/>
            <a:r>
              <a:rPr lang="en-US" sz="2000" dirty="0">
                <a:latin typeface="Times New Roman"/>
                <a:ea typeface="Times New Roman"/>
                <a:cs typeface="Times New Roman"/>
                <a:sym typeface="Times New Roman"/>
              </a:rPr>
              <a:t>Allows owners to monitor their pets in real-time through a mobile app.</a:t>
            </a:r>
          </a:p>
          <a:p>
            <a:pPr algn="just"/>
            <a:r>
              <a:rPr lang="en-US" sz="2000" dirty="0">
                <a:latin typeface="Times New Roman"/>
                <a:ea typeface="Times New Roman"/>
                <a:cs typeface="Times New Roman"/>
                <a:sym typeface="Times New Roman"/>
              </a:rPr>
              <a:t>Provides peace of mind by offering a live video feed of the dog's activities.</a:t>
            </a:r>
          </a:p>
          <a:p>
            <a:pPr algn="just"/>
            <a:r>
              <a:rPr lang="en-US" sz="2000" b="1" dirty="0">
                <a:latin typeface="Times New Roman"/>
                <a:ea typeface="Times New Roman"/>
                <a:cs typeface="Times New Roman"/>
                <a:sym typeface="Times New Roman"/>
              </a:rPr>
              <a:t>Interactive Features:</a:t>
            </a:r>
          </a:p>
          <a:p>
            <a:pPr algn="just"/>
            <a:r>
              <a:rPr lang="en-US" sz="2000" dirty="0">
                <a:latin typeface="Times New Roman"/>
                <a:ea typeface="Times New Roman"/>
                <a:cs typeface="Times New Roman"/>
                <a:sym typeface="Times New Roman"/>
              </a:rPr>
              <a:t>Engages dogs with interactive toys and activities controlled remotely.</a:t>
            </a:r>
          </a:p>
          <a:p>
            <a:pPr algn="just"/>
            <a:r>
              <a:rPr lang="en-US" sz="2000" dirty="0">
                <a:latin typeface="Times New Roman"/>
                <a:ea typeface="Times New Roman"/>
                <a:cs typeface="Times New Roman"/>
                <a:sym typeface="Times New Roman"/>
              </a:rPr>
              <a:t>Enables owners to virtually play with their pets, promoting mental stimulation.</a:t>
            </a:r>
          </a:p>
          <a:p>
            <a:pPr algn="just"/>
            <a:r>
              <a:rPr lang="en-US" sz="2000" b="1" dirty="0">
                <a:latin typeface="Times New Roman"/>
                <a:ea typeface="Times New Roman"/>
                <a:cs typeface="Times New Roman"/>
                <a:sym typeface="Times New Roman"/>
              </a:rPr>
              <a:t>Automated Feeding:</a:t>
            </a:r>
          </a:p>
          <a:p>
            <a:pPr algn="just"/>
            <a:r>
              <a:rPr lang="en-US" sz="2000" dirty="0">
                <a:latin typeface="Times New Roman"/>
                <a:ea typeface="Times New Roman"/>
                <a:cs typeface="Times New Roman"/>
                <a:sym typeface="Times New Roman"/>
              </a:rPr>
              <a:t>Dispenses scheduled meals, ensuring dogs are fed on time.</a:t>
            </a:r>
          </a:p>
          <a:p>
            <a:pPr algn="just"/>
            <a:r>
              <a:rPr lang="en-US" sz="2000" dirty="0">
                <a:latin typeface="Times New Roman"/>
                <a:ea typeface="Times New Roman"/>
                <a:cs typeface="Times New Roman"/>
                <a:sym typeface="Times New Roman"/>
              </a:rPr>
              <a:t>Customizable feeding options based on dietary needs and preferences.</a:t>
            </a:r>
          </a:p>
          <a:p>
            <a:pPr algn="just"/>
            <a:endParaRPr lang="en-US" sz="2000" dirty="0">
              <a:latin typeface="Times New Roman"/>
              <a:ea typeface="Times New Roman"/>
              <a:cs typeface="Times New Roman"/>
              <a:sym typeface="Times New Roman"/>
            </a:endParaRPr>
          </a:p>
          <a:p>
            <a:endParaRPr lang="en-US" sz="2000" dirty="0">
              <a:latin typeface="Times New Roman"/>
              <a:ea typeface="Times New Roman"/>
              <a:cs typeface="Times New Roman"/>
              <a:sym typeface="Times New Roman"/>
            </a:endParaRPr>
          </a:p>
          <a:p>
            <a:pPr marL="114300" indent="0">
              <a:buNone/>
            </a:pPr>
            <a:endParaRPr lang="en-US" sz="2000" b="1" dirty="0">
              <a:latin typeface="Times New Roman"/>
              <a:ea typeface="Times New Roman"/>
              <a:cs typeface="Times New Roman"/>
              <a:sym typeface="Times New Roman"/>
            </a:endParaRPr>
          </a:p>
          <a:p>
            <a:endParaRPr lang="en-US" sz="2000" b="1" dirty="0">
              <a:latin typeface="Times New Roman"/>
              <a:ea typeface="Times New Roman"/>
              <a:cs typeface="Times New Roman"/>
              <a:sym typeface="Times New Roman"/>
            </a:endParaRPr>
          </a:p>
          <a:p>
            <a:endParaRPr lang="en-US" sz="2000" b="1" dirty="0">
              <a:latin typeface="Times New Roman"/>
              <a:ea typeface="Times New Roman"/>
              <a:cs typeface="Times New Roman"/>
              <a:sym typeface="Times New Roman"/>
            </a:endParaRPr>
          </a:p>
          <a:p>
            <a:endParaRPr lang="en-IN" dirty="0"/>
          </a:p>
        </p:txBody>
      </p:sp>
      <p:sp>
        <p:nvSpPr>
          <p:cNvPr id="4" name="Slide Number Placeholder 3">
            <a:extLst>
              <a:ext uri="{FF2B5EF4-FFF2-40B4-BE49-F238E27FC236}">
                <a16:creationId xmlns:a16="http://schemas.microsoft.com/office/drawing/2014/main" id="{654ADC22-AA43-E082-8D2D-433413E5275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Tree>
    <p:extLst>
      <p:ext uri="{BB962C8B-B14F-4D97-AF65-F5344CB8AC3E}">
        <p14:creationId xmlns:p14="http://schemas.microsoft.com/office/powerpoint/2010/main" val="2664395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0E664-5700-D675-3A3A-9D85160B5EDE}"/>
              </a:ext>
            </a:extLst>
          </p:cNvPr>
          <p:cNvSpPr>
            <a:spLocks noGrp="1"/>
          </p:cNvSpPr>
          <p:nvPr>
            <p:ph type="title"/>
          </p:nvPr>
        </p:nvSpPr>
        <p:spPr/>
        <p:txBody>
          <a:bodyPr/>
          <a:lstStyle/>
          <a:p>
            <a:r>
              <a:rPr lang="en-US" b="1" dirty="0"/>
              <a:t>Proposed System (Innovation)</a:t>
            </a:r>
            <a:endParaRPr lang="en-IN" b="1" dirty="0"/>
          </a:p>
        </p:txBody>
      </p:sp>
      <p:sp>
        <p:nvSpPr>
          <p:cNvPr id="3" name="Text Placeholder 2">
            <a:extLst>
              <a:ext uri="{FF2B5EF4-FFF2-40B4-BE49-F238E27FC236}">
                <a16:creationId xmlns:a16="http://schemas.microsoft.com/office/drawing/2014/main" id="{39020BB4-5FEA-8AF3-DDA2-B150B547A7FD}"/>
              </a:ext>
            </a:extLst>
          </p:cNvPr>
          <p:cNvSpPr>
            <a:spLocks noGrp="1"/>
          </p:cNvSpPr>
          <p:nvPr>
            <p:ph type="body" idx="1"/>
          </p:nvPr>
        </p:nvSpPr>
        <p:spPr/>
        <p:txBody>
          <a:bodyPr>
            <a:normAutofit/>
          </a:bodyPr>
          <a:lstStyle/>
          <a:p>
            <a:r>
              <a:rPr lang="en-US" sz="2000" b="1" u="sng" dirty="0">
                <a:latin typeface="Times New Roman"/>
                <a:ea typeface="Times New Roman"/>
                <a:cs typeface="Times New Roman"/>
                <a:sym typeface="Times New Roman"/>
              </a:rPr>
              <a:t>Advantages of Proposed System</a:t>
            </a:r>
          </a:p>
          <a:p>
            <a:pPr algn="just"/>
            <a:r>
              <a:rPr lang="en-US" sz="2000" b="1" dirty="0">
                <a:latin typeface="Times New Roman" panose="02020603050405020304" pitchFamily="18" charset="0"/>
                <a:cs typeface="Times New Roman" panose="02020603050405020304" pitchFamily="18" charset="0"/>
              </a:rPr>
              <a:t>Security Features:</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Equipped with surveillance cameras.</a:t>
            </a:r>
          </a:p>
          <a:p>
            <a:pPr algn="just"/>
            <a:r>
              <a:rPr lang="en-US" sz="2000" b="1" dirty="0">
                <a:latin typeface="Times New Roman" panose="02020603050405020304" pitchFamily="18" charset="0"/>
                <a:cs typeface="Times New Roman" panose="02020603050405020304" pitchFamily="18" charset="0"/>
              </a:rPr>
              <a:t>Customizable Settings:</a:t>
            </a:r>
          </a:p>
          <a:p>
            <a:pPr algn="just"/>
            <a:r>
              <a:rPr lang="en-US" sz="2000" dirty="0">
                <a:latin typeface="Times New Roman" panose="02020603050405020304" pitchFamily="18" charset="0"/>
                <a:cs typeface="Times New Roman" panose="02020603050405020304" pitchFamily="18" charset="0"/>
              </a:rPr>
              <a:t>Owners can personalize settings based on their dog's preferences and needs.</a:t>
            </a:r>
          </a:p>
          <a:p>
            <a:pPr algn="just"/>
            <a:r>
              <a:rPr lang="en-US" sz="2000" dirty="0">
                <a:latin typeface="Times New Roman" panose="02020603050405020304" pitchFamily="18" charset="0"/>
                <a:cs typeface="Times New Roman" panose="02020603050405020304" pitchFamily="18" charset="0"/>
              </a:rPr>
              <a:t>Allows for flexibility in scheduling activities, feeding times, and play sessions.</a:t>
            </a:r>
          </a:p>
          <a:p>
            <a:endParaRPr lang="en-IN" dirty="0"/>
          </a:p>
        </p:txBody>
      </p:sp>
      <p:sp>
        <p:nvSpPr>
          <p:cNvPr id="4" name="Slide Number Placeholder 3">
            <a:extLst>
              <a:ext uri="{FF2B5EF4-FFF2-40B4-BE49-F238E27FC236}">
                <a16:creationId xmlns:a16="http://schemas.microsoft.com/office/drawing/2014/main" id="{66134A18-A4A5-1CC5-E113-2CBC23BC497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extLst>
      <p:ext uri="{BB962C8B-B14F-4D97-AF65-F5344CB8AC3E}">
        <p14:creationId xmlns:p14="http://schemas.microsoft.com/office/powerpoint/2010/main" val="18604377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2B0E1-E4EC-7BE3-E7C3-DF480D6C2EC4}"/>
              </a:ext>
            </a:extLst>
          </p:cNvPr>
          <p:cNvSpPr>
            <a:spLocks noGrp="1"/>
          </p:cNvSpPr>
          <p:nvPr>
            <p:ph type="title"/>
          </p:nvPr>
        </p:nvSpPr>
        <p:spPr/>
        <p:txBody>
          <a:bodyPr/>
          <a:lstStyle/>
          <a:p>
            <a:r>
              <a:rPr lang="en-US" b="1" dirty="0"/>
              <a:t>Proposed System (Innovation)</a:t>
            </a:r>
            <a:endParaRPr lang="en-IN" b="1" dirty="0"/>
          </a:p>
        </p:txBody>
      </p:sp>
      <p:sp>
        <p:nvSpPr>
          <p:cNvPr id="3" name="Text Placeholder 2">
            <a:extLst>
              <a:ext uri="{FF2B5EF4-FFF2-40B4-BE49-F238E27FC236}">
                <a16:creationId xmlns:a16="http://schemas.microsoft.com/office/drawing/2014/main" id="{527A7C29-E3FF-D568-FD30-1F823D017B43}"/>
              </a:ext>
            </a:extLst>
          </p:cNvPr>
          <p:cNvSpPr>
            <a:spLocks noGrp="1"/>
          </p:cNvSpPr>
          <p:nvPr>
            <p:ph type="body" idx="1"/>
          </p:nvPr>
        </p:nvSpPr>
        <p:spPr/>
        <p:txBody>
          <a:bodyPr/>
          <a:lstStyle/>
          <a:p>
            <a:r>
              <a:rPr lang="en-US" sz="2000" b="1" u="sng" dirty="0">
                <a:latin typeface="Times New Roman"/>
                <a:ea typeface="Times New Roman"/>
                <a:cs typeface="Times New Roman"/>
                <a:sym typeface="Times New Roman"/>
              </a:rPr>
              <a:t>Advantages of Proposed System</a:t>
            </a:r>
            <a:endParaRPr lang="en-US" sz="2000" b="1" dirty="0">
              <a:latin typeface="Times New Roman"/>
              <a:ea typeface="Times New Roman"/>
              <a:cs typeface="Times New Roman"/>
              <a:sym typeface="Times New Roman"/>
            </a:endParaRPr>
          </a:p>
          <a:p>
            <a:pPr algn="just"/>
            <a:r>
              <a:rPr lang="en-US" sz="2000" b="1" dirty="0">
                <a:latin typeface="Times New Roman" panose="02020603050405020304" pitchFamily="18" charset="0"/>
                <a:cs typeface="Times New Roman" panose="02020603050405020304" pitchFamily="18" charset="0"/>
              </a:rPr>
              <a:t>Remote Communication:</a:t>
            </a:r>
          </a:p>
          <a:p>
            <a:pPr algn="just"/>
            <a:r>
              <a:rPr lang="en-US" sz="2000" dirty="0">
                <a:latin typeface="Times New Roman" panose="02020603050405020304" pitchFamily="18" charset="0"/>
                <a:cs typeface="Times New Roman" panose="02020603050405020304" pitchFamily="18" charset="0"/>
              </a:rPr>
              <a:t>Enables owners to communicate with daycare staff and other dog owners.</a:t>
            </a:r>
          </a:p>
          <a:p>
            <a:pPr algn="just"/>
            <a:r>
              <a:rPr lang="en-US" sz="2000" dirty="0">
                <a:latin typeface="Times New Roman" panose="02020603050405020304" pitchFamily="18" charset="0"/>
                <a:cs typeface="Times New Roman" panose="02020603050405020304" pitchFamily="18" charset="0"/>
              </a:rPr>
              <a:t>Facilitates collaboration and information sharing among the pet community.</a:t>
            </a:r>
          </a:p>
          <a:p>
            <a:pPr algn="just"/>
            <a:r>
              <a:rPr lang="en-US" sz="2000" b="1" dirty="0">
                <a:latin typeface="Times New Roman" panose="02020603050405020304" pitchFamily="18" charset="0"/>
                <a:cs typeface="Times New Roman" panose="02020603050405020304" pitchFamily="18" charset="0"/>
              </a:rPr>
              <a:t>Reduced Staff Workload:</a:t>
            </a:r>
          </a:p>
          <a:p>
            <a:pPr algn="just"/>
            <a:r>
              <a:rPr lang="en-US" sz="2000" dirty="0">
                <a:latin typeface="Times New Roman" panose="02020603050405020304" pitchFamily="18" charset="0"/>
                <a:cs typeface="Times New Roman" panose="02020603050405020304" pitchFamily="18" charset="0"/>
              </a:rPr>
              <a:t>Automates routine tasks, allowing staff to focus on personalized care.</a:t>
            </a:r>
          </a:p>
          <a:p>
            <a:pPr algn="just"/>
            <a:r>
              <a:rPr lang="en-US" sz="2000" dirty="0">
                <a:latin typeface="Times New Roman" panose="02020603050405020304" pitchFamily="18" charset="0"/>
                <a:cs typeface="Times New Roman" panose="02020603050405020304" pitchFamily="18" charset="0"/>
              </a:rPr>
              <a:t>Enhances efficiency in managing multiple dogs simultaneously.</a:t>
            </a:r>
          </a:p>
          <a:p>
            <a:pPr algn="just"/>
            <a:endParaRPr lang="en-US" sz="2000" dirty="0">
              <a:latin typeface="Times New Roman" panose="02020603050405020304" pitchFamily="18"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DD3BB071-762D-C36E-1B22-17129C2C7BF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extLst>
      <p:ext uri="{BB962C8B-B14F-4D97-AF65-F5344CB8AC3E}">
        <p14:creationId xmlns:p14="http://schemas.microsoft.com/office/powerpoint/2010/main" val="3517076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BC6B6-C39F-341D-A325-0D7DF8DABD82}"/>
              </a:ext>
            </a:extLst>
          </p:cNvPr>
          <p:cNvSpPr>
            <a:spLocks noGrp="1"/>
          </p:cNvSpPr>
          <p:nvPr>
            <p:ph type="title"/>
          </p:nvPr>
        </p:nvSpPr>
        <p:spPr/>
        <p:txBody>
          <a:bodyPr/>
          <a:lstStyle/>
          <a:p>
            <a:r>
              <a:rPr lang="en-IN" b="1" dirty="0"/>
              <a:t>Objective</a:t>
            </a:r>
          </a:p>
        </p:txBody>
      </p:sp>
      <p:sp>
        <p:nvSpPr>
          <p:cNvPr id="3" name="Text Placeholder 2">
            <a:extLst>
              <a:ext uri="{FF2B5EF4-FFF2-40B4-BE49-F238E27FC236}">
                <a16:creationId xmlns:a16="http://schemas.microsoft.com/office/drawing/2014/main" id="{CBF539DC-4FEE-C83E-3849-56C1C71116A1}"/>
              </a:ext>
            </a:extLst>
          </p:cNvPr>
          <p:cNvSpPr>
            <a:spLocks noGrp="1"/>
          </p:cNvSpPr>
          <p:nvPr>
            <p:ph type="body" idx="1"/>
          </p:nvPr>
        </p:nvSpPr>
        <p:spPr/>
        <p:txBody>
          <a:bodyPr>
            <a:normAutofit lnSpcReduction="10000"/>
          </a:bodyPr>
          <a:lstStyle/>
          <a:p>
            <a:pPr algn="just"/>
            <a:r>
              <a:rPr lang="en-US" sz="2200" dirty="0">
                <a:latin typeface="Times New Roman" panose="02020603050405020304" pitchFamily="18" charset="0"/>
                <a:cs typeface="Times New Roman" panose="02020603050405020304" pitchFamily="18" charset="0"/>
              </a:rPr>
              <a:t>The primary objective is to design and develop a pet care  unit from which food and water can be given to a pet instantly and also have live video feed of the pet using camera. </a:t>
            </a:r>
          </a:p>
          <a:p>
            <a:pPr algn="just"/>
            <a:r>
              <a:rPr lang="en-US" sz="2200" dirty="0">
                <a:latin typeface="Times New Roman" panose="02020603050405020304" pitchFamily="18" charset="0"/>
                <a:cs typeface="Times New Roman" panose="02020603050405020304" pitchFamily="18" charset="0"/>
              </a:rPr>
              <a:t>The main objective of the IoT-based dog daycare robot is to enhance the overall well-being of our canine companions by providing a technologically advanced and interactive environment. This system aims to offer pet owners real-time monitoring capabilities through a user-friendly mobile app, ensuring they can observe and engage with their dogs remotely. The robot focuses on automating essential tasks such as feeding and maintaining a comfortable climate, allowing for a more efficient and stress-free experience for both pets and staff.</a:t>
            </a:r>
          </a:p>
          <a:p>
            <a:pPr algn="just"/>
            <a:r>
              <a:rPr lang="en-US" sz="2200" dirty="0">
                <a:latin typeface="Times New Roman" panose="02020603050405020304" pitchFamily="18" charset="0"/>
                <a:cs typeface="Times New Roman" panose="02020603050405020304" pitchFamily="18" charset="0"/>
              </a:rPr>
              <a:t> By fostering socialization, personalization, and security, the IoT dog daycare robot strives to create a safe and enjoyable space for dogs, promoting their mental and physical well-being while offering owners peace of mind during their absence.</a:t>
            </a:r>
          </a:p>
          <a:p>
            <a:endParaRPr lang="en-IN" dirty="0"/>
          </a:p>
        </p:txBody>
      </p:sp>
      <p:sp>
        <p:nvSpPr>
          <p:cNvPr id="4" name="Slide Number Placeholder 3">
            <a:extLst>
              <a:ext uri="{FF2B5EF4-FFF2-40B4-BE49-F238E27FC236}">
                <a16:creationId xmlns:a16="http://schemas.microsoft.com/office/drawing/2014/main" id="{0E253BAD-9081-8948-4912-3D487E7E21B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Tree>
    <p:extLst>
      <p:ext uri="{BB962C8B-B14F-4D97-AF65-F5344CB8AC3E}">
        <p14:creationId xmlns:p14="http://schemas.microsoft.com/office/powerpoint/2010/main" val="22161854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AC912-1B2B-11B2-62B6-09A6F256C6C9}"/>
              </a:ext>
            </a:extLst>
          </p:cNvPr>
          <p:cNvSpPr>
            <a:spLocks noGrp="1"/>
          </p:cNvSpPr>
          <p:nvPr>
            <p:ph type="title"/>
          </p:nvPr>
        </p:nvSpPr>
        <p:spPr/>
        <p:txBody>
          <a:bodyPr/>
          <a:lstStyle/>
          <a:p>
            <a:r>
              <a:rPr lang="en-US" b="1" dirty="0"/>
              <a:t>Methodology</a:t>
            </a:r>
            <a:endParaRPr lang="en-IN" b="1" dirty="0"/>
          </a:p>
        </p:txBody>
      </p:sp>
      <p:sp>
        <p:nvSpPr>
          <p:cNvPr id="3" name="Text Placeholder 2">
            <a:extLst>
              <a:ext uri="{FF2B5EF4-FFF2-40B4-BE49-F238E27FC236}">
                <a16:creationId xmlns:a16="http://schemas.microsoft.com/office/drawing/2014/main" id="{FE622AAC-4AE0-FAC7-6FC9-01696DFBCA8D}"/>
              </a:ext>
            </a:extLst>
          </p:cNvPr>
          <p:cNvSpPr>
            <a:spLocks noGrp="1"/>
          </p:cNvSpPr>
          <p:nvPr>
            <p:ph type="body" idx="1"/>
          </p:nvPr>
        </p:nvSpPr>
        <p:spPr/>
        <p:txBody>
          <a:bodyPr>
            <a:normAutofit/>
          </a:bodyPr>
          <a:lstStyle/>
          <a:p>
            <a:pPr algn="just"/>
            <a:r>
              <a:rPr lang="en-US" sz="2400" dirty="0">
                <a:latin typeface="Times New Roman"/>
                <a:ea typeface="Times New Roman"/>
                <a:cs typeface="Times New Roman"/>
                <a:sym typeface="Times New Roman"/>
              </a:rPr>
              <a:t>The methodology for </a:t>
            </a:r>
            <a:r>
              <a:rPr lang="en-US" sz="2400" dirty="0">
                <a:latin typeface="Times New Roman" panose="02020603050405020304" pitchFamily="18" charset="0"/>
                <a:cs typeface="Times New Roman" panose="02020603050405020304" pitchFamily="18" charset="0"/>
              </a:rPr>
              <a:t>IOT-based Dog Daycare Robot </a:t>
            </a:r>
            <a:r>
              <a:rPr lang="en-US" sz="2400" dirty="0">
                <a:latin typeface="Times New Roman"/>
                <a:ea typeface="Times New Roman"/>
                <a:cs typeface="Times New Roman"/>
                <a:sym typeface="Times New Roman"/>
              </a:rPr>
              <a:t>involves seven steps:</a:t>
            </a:r>
          </a:p>
          <a:p>
            <a:pPr algn="just"/>
            <a:r>
              <a:rPr lang="en-US" sz="2000" dirty="0">
                <a:latin typeface="Times New Roman"/>
                <a:ea typeface="Times New Roman"/>
                <a:cs typeface="Times New Roman"/>
                <a:sym typeface="Times New Roman"/>
              </a:rPr>
              <a:t>The ESP32-CAM is a low-cost microcontroller that integrates a camera module and Wi-Fi capabilities.</a:t>
            </a:r>
          </a:p>
          <a:p>
            <a:pPr algn="just"/>
            <a:r>
              <a:rPr lang="en-US" sz="2000" dirty="0">
                <a:latin typeface="Times New Roman"/>
                <a:ea typeface="Times New Roman"/>
                <a:cs typeface="Times New Roman"/>
                <a:sym typeface="Times New Roman"/>
              </a:rPr>
              <a:t> In this project, we use the ESP32-CAM to control the movement of the robot and capture video and images that can be viewed remotely. </a:t>
            </a:r>
          </a:p>
          <a:p>
            <a:pPr algn="just"/>
            <a:r>
              <a:rPr lang="en-US" sz="2000" dirty="0">
                <a:latin typeface="Times New Roman"/>
                <a:ea typeface="Times New Roman"/>
                <a:cs typeface="Times New Roman"/>
                <a:sym typeface="Times New Roman"/>
              </a:rPr>
              <a:t>The robot is equipped with a set of motors that enable it to move in different directions. </a:t>
            </a:r>
          </a:p>
          <a:p>
            <a:pPr algn="just"/>
            <a:r>
              <a:rPr lang="en-US" sz="2000" dirty="0">
                <a:latin typeface="Times New Roman"/>
                <a:ea typeface="Times New Roman"/>
                <a:cs typeface="Times New Roman"/>
                <a:sym typeface="Times New Roman"/>
              </a:rPr>
              <a:t>The methodology for developing a surveillance robot using ESP32-CAM can be divided into two steps: </a:t>
            </a:r>
          </a:p>
          <a:p>
            <a:pPr algn="just"/>
            <a:r>
              <a:rPr lang="en-US" sz="2000" dirty="0">
                <a:latin typeface="Times New Roman"/>
                <a:ea typeface="Times New Roman"/>
                <a:cs typeface="Times New Roman"/>
                <a:sym typeface="Times New Roman"/>
              </a:rPr>
              <a:t>hardware </a:t>
            </a:r>
          </a:p>
          <a:p>
            <a:pPr algn="just"/>
            <a:r>
              <a:rPr lang="en-US" sz="2000" dirty="0">
                <a:latin typeface="Times New Roman"/>
                <a:ea typeface="Times New Roman"/>
                <a:cs typeface="Times New Roman"/>
                <a:sym typeface="Times New Roman"/>
              </a:rPr>
              <a:t>software</a:t>
            </a:r>
          </a:p>
          <a:p>
            <a:endParaRPr lang="en-US" sz="2400" dirty="0">
              <a:latin typeface="Times New Roman"/>
              <a:ea typeface="Times New Roman"/>
              <a:cs typeface="Times New Roman"/>
              <a:sym typeface="Times New Roman"/>
            </a:endParaRPr>
          </a:p>
          <a:p>
            <a:endParaRPr lang="en-US" sz="2400" dirty="0">
              <a:latin typeface="Times New Roman"/>
              <a:ea typeface="Times New Roman"/>
              <a:cs typeface="Times New Roman"/>
              <a:sym typeface="Times New Roman"/>
            </a:endParaRPr>
          </a:p>
          <a:p>
            <a:endParaRPr lang="en-IN" dirty="0"/>
          </a:p>
        </p:txBody>
      </p:sp>
      <p:sp>
        <p:nvSpPr>
          <p:cNvPr id="4" name="Slide Number Placeholder 3">
            <a:extLst>
              <a:ext uri="{FF2B5EF4-FFF2-40B4-BE49-F238E27FC236}">
                <a16:creationId xmlns:a16="http://schemas.microsoft.com/office/drawing/2014/main" id="{2B38EA47-F746-B5F0-847C-E0501946BFD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Tree>
    <p:extLst>
      <p:ext uri="{BB962C8B-B14F-4D97-AF65-F5344CB8AC3E}">
        <p14:creationId xmlns:p14="http://schemas.microsoft.com/office/powerpoint/2010/main" val="20709211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BD9FB-FDAE-0032-A694-E2E4B7F0F509}"/>
              </a:ext>
            </a:extLst>
          </p:cNvPr>
          <p:cNvSpPr>
            <a:spLocks noGrp="1"/>
          </p:cNvSpPr>
          <p:nvPr>
            <p:ph type="title"/>
          </p:nvPr>
        </p:nvSpPr>
        <p:spPr/>
        <p:txBody>
          <a:bodyPr/>
          <a:lstStyle/>
          <a:p>
            <a:r>
              <a:rPr lang="en-US" b="1" dirty="0"/>
              <a:t>Methodology</a:t>
            </a:r>
            <a:endParaRPr lang="en-IN" b="1" dirty="0"/>
          </a:p>
        </p:txBody>
      </p:sp>
      <p:sp>
        <p:nvSpPr>
          <p:cNvPr id="3" name="Text Placeholder 2">
            <a:extLst>
              <a:ext uri="{FF2B5EF4-FFF2-40B4-BE49-F238E27FC236}">
                <a16:creationId xmlns:a16="http://schemas.microsoft.com/office/drawing/2014/main" id="{67995782-71D9-0278-C636-64F8355E7413}"/>
              </a:ext>
            </a:extLst>
          </p:cNvPr>
          <p:cNvSpPr>
            <a:spLocks noGrp="1"/>
          </p:cNvSpPr>
          <p:nvPr>
            <p:ph type="body" idx="1"/>
          </p:nvPr>
        </p:nvSpPr>
        <p:spPr>
          <a:xfrm>
            <a:off x="838200" y="1825625"/>
            <a:ext cx="7906789" cy="4351338"/>
          </a:xfrm>
        </p:spPr>
        <p:txBody>
          <a:bodyPr>
            <a:normAutofit/>
          </a:bodyPr>
          <a:lstStyle/>
          <a:p>
            <a:r>
              <a:rPr lang="en-IN" sz="2000" b="1" dirty="0">
                <a:latin typeface="Times New Roman" panose="02020603050405020304" pitchFamily="18" charset="0"/>
                <a:cs typeface="Times New Roman" panose="02020603050405020304" pitchFamily="18" charset="0"/>
              </a:rPr>
              <a:t>HARDWARE REQUIREMENT </a:t>
            </a:r>
          </a:p>
          <a:p>
            <a:r>
              <a:rPr lang="en-US" sz="2000" b="1" dirty="0">
                <a:latin typeface="Times New Roman" panose="02020603050405020304" pitchFamily="18" charset="0"/>
                <a:cs typeface="Times New Roman" panose="02020603050405020304" pitchFamily="18" charset="0"/>
              </a:rPr>
              <a:t>ESP32 CAM</a:t>
            </a:r>
          </a:p>
          <a:p>
            <a:pPr marL="114300" indent="0" algn="just">
              <a:buNone/>
            </a:pPr>
            <a:r>
              <a:rPr lang="en-US" sz="2000" dirty="0">
                <a:latin typeface="Times New Roman" panose="02020603050405020304" pitchFamily="18" charset="0"/>
                <a:cs typeface="Times New Roman" panose="02020603050405020304" pitchFamily="18" charset="0"/>
              </a:rPr>
              <a:t>The ESP32-CAM is a small size module based on the ESP32  microcontroller. Its low-power camera module and deep sleep current are as  low as 6mA. It comes with an OV2640 camera and provides an onboard TF  card slot. The ESP32-CAM can be widely used in intelligent IoT applications  such as wireless video monitoring, WIFI image upload, and QR  identifications. The module can support WIFI video monitoring and WIFI  image upload. The onboard ESP32-S module supports WIFI and Bluetooth.  The WIFI protocol is IEEE 802.11. there have several Peripheral interfaces.  Such as UART, SPI, I2C and PWM. Figure 3. Shows the ESP32 CAM  module.</a:t>
            </a:r>
          </a:p>
          <a:p>
            <a:endParaRPr lang="en-IN"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9E0EFC1-428D-233C-EF77-C5F9CB393D1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pic>
        <p:nvPicPr>
          <p:cNvPr id="5" name="object 4">
            <a:extLst>
              <a:ext uri="{FF2B5EF4-FFF2-40B4-BE49-F238E27FC236}">
                <a16:creationId xmlns:a16="http://schemas.microsoft.com/office/drawing/2014/main" id="{0A060FEB-546C-A7C3-555C-05FBF516E9D7}"/>
              </a:ext>
            </a:extLst>
          </p:cNvPr>
          <p:cNvPicPr/>
          <p:nvPr/>
        </p:nvPicPr>
        <p:blipFill>
          <a:blip r:embed="rId2" cstate="print"/>
          <a:stretch>
            <a:fillRect/>
          </a:stretch>
        </p:blipFill>
        <p:spPr>
          <a:xfrm>
            <a:off x="8812265" y="3060764"/>
            <a:ext cx="2801319" cy="2137262"/>
          </a:xfrm>
          <a:prstGeom prst="rect">
            <a:avLst/>
          </a:prstGeom>
        </p:spPr>
      </p:pic>
    </p:spTree>
    <p:extLst>
      <p:ext uri="{BB962C8B-B14F-4D97-AF65-F5344CB8AC3E}">
        <p14:creationId xmlns:p14="http://schemas.microsoft.com/office/powerpoint/2010/main" val="31906917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8F01B-1FD6-7D26-33B6-128322747802}"/>
              </a:ext>
            </a:extLst>
          </p:cNvPr>
          <p:cNvSpPr>
            <a:spLocks noGrp="1"/>
          </p:cNvSpPr>
          <p:nvPr>
            <p:ph type="title"/>
          </p:nvPr>
        </p:nvSpPr>
        <p:spPr>
          <a:xfrm>
            <a:off x="1426396" y="240434"/>
            <a:ext cx="9860902" cy="1325563"/>
          </a:xfrm>
        </p:spPr>
        <p:txBody>
          <a:bodyPr>
            <a:normAutofit/>
          </a:bodyPr>
          <a:lstStyle/>
          <a:p>
            <a:r>
              <a:rPr lang="en-IN" sz="4400" b="1" dirty="0">
                <a:latin typeface="Times New Roman" panose="02020603050405020304" pitchFamily="18" charset="0"/>
                <a:cs typeface="Times New Roman" panose="02020603050405020304" pitchFamily="18" charset="0"/>
              </a:rPr>
              <a:t>Hardware Requirement</a:t>
            </a:r>
            <a:endParaRPr lang="en-IN" dirty="0"/>
          </a:p>
        </p:txBody>
      </p:sp>
      <p:sp>
        <p:nvSpPr>
          <p:cNvPr id="3" name="Text Placeholder 2">
            <a:extLst>
              <a:ext uri="{FF2B5EF4-FFF2-40B4-BE49-F238E27FC236}">
                <a16:creationId xmlns:a16="http://schemas.microsoft.com/office/drawing/2014/main" id="{F9337F3A-382A-4E00-2952-8F863F00DC37}"/>
              </a:ext>
            </a:extLst>
          </p:cNvPr>
          <p:cNvSpPr>
            <a:spLocks noGrp="1"/>
          </p:cNvSpPr>
          <p:nvPr>
            <p:ph type="body" idx="1"/>
          </p:nvPr>
        </p:nvSpPr>
        <p:spPr>
          <a:xfrm>
            <a:off x="838200" y="1825625"/>
            <a:ext cx="6967451" cy="4351338"/>
          </a:xfrm>
        </p:spPr>
        <p:txBody>
          <a:bodyPr>
            <a:normAutofit lnSpcReduction="10000"/>
          </a:bodyPr>
          <a:lstStyle/>
          <a:p>
            <a:r>
              <a:rPr lang="en-IN" sz="2000" b="1" spc="-10" dirty="0">
                <a:latin typeface="Times New Roman" panose="02020603050405020304"/>
                <a:cs typeface="Times New Roman" panose="02020603050405020304"/>
              </a:rPr>
              <a:t>Motor</a:t>
            </a:r>
            <a:r>
              <a:rPr lang="en-IN" sz="2000" b="1" spc="-20" dirty="0">
                <a:latin typeface="Times New Roman" panose="02020603050405020304"/>
                <a:cs typeface="Times New Roman" panose="02020603050405020304"/>
              </a:rPr>
              <a:t> </a:t>
            </a:r>
            <a:r>
              <a:rPr lang="en-IN" sz="2000" b="1" spc="-5" dirty="0">
                <a:latin typeface="Times New Roman" panose="02020603050405020304"/>
                <a:cs typeface="Times New Roman" panose="02020603050405020304"/>
              </a:rPr>
              <a:t>drive</a:t>
            </a:r>
            <a:r>
              <a:rPr lang="en-IN" sz="2000" b="1" spc="-15" dirty="0">
                <a:latin typeface="Times New Roman" panose="02020603050405020304"/>
                <a:cs typeface="Times New Roman" panose="02020603050405020304"/>
              </a:rPr>
              <a:t> </a:t>
            </a:r>
            <a:r>
              <a:rPr lang="en-IN" sz="2000" b="1" spc="-10" dirty="0">
                <a:latin typeface="Times New Roman" panose="02020603050405020304"/>
                <a:cs typeface="Times New Roman" panose="02020603050405020304"/>
              </a:rPr>
              <a:t>module</a:t>
            </a:r>
          </a:p>
          <a:p>
            <a:pPr marL="114300" indent="0" algn="just">
              <a:buNone/>
            </a:pPr>
            <a:r>
              <a:rPr lang="en-US" sz="2000" dirty="0">
                <a:latin typeface="Times New Roman" panose="02020603050405020304" pitchFamily="18" charset="0"/>
                <a:cs typeface="Times New Roman" panose="02020603050405020304" pitchFamily="18" charset="0"/>
              </a:rPr>
              <a:t>The motor drivers use for an interface between the control circuits and the  motors. The controller circuit operates on low current signals, whereas the  motor requires a high amount of current. Motor drivers' purpose is to convert  low-current control signals into higher-current signals that can drive a motor.  The motor drive module used for the L298N Motor Driver Module is a high-  power motor driver module for driving Stepper and DC Motors. This module  consists of a 78M05 5V regulator and L298 motor driver IC. L298N Module  can control up to 4 DC motors or 2 DC motors with speed and directional  control. The L298N drive can up the 46V motor supply voltage and 2A maximum motor supply current. Their drive voltage and drive current respect  5-35V and 2A. The PCB has a heatsink for better performance.</a:t>
            </a:r>
          </a:p>
          <a:p>
            <a:pPr marL="114300" indent="0">
              <a:buNone/>
            </a:pPr>
            <a:endParaRPr lang="en-IN" sz="2000" b="1" dirty="0"/>
          </a:p>
        </p:txBody>
      </p:sp>
      <p:sp>
        <p:nvSpPr>
          <p:cNvPr id="4" name="Slide Number Placeholder 3">
            <a:extLst>
              <a:ext uri="{FF2B5EF4-FFF2-40B4-BE49-F238E27FC236}">
                <a16:creationId xmlns:a16="http://schemas.microsoft.com/office/drawing/2014/main" id="{38AE16DD-2EF0-8064-EBDF-A284587B337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pic>
        <p:nvPicPr>
          <p:cNvPr id="5" name="object 5">
            <a:extLst>
              <a:ext uri="{FF2B5EF4-FFF2-40B4-BE49-F238E27FC236}">
                <a16:creationId xmlns:a16="http://schemas.microsoft.com/office/drawing/2014/main" id="{B8D31FA1-67E7-B2BF-9BF7-C7EEDCF46887}"/>
              </a:ext>
            </a:extLst>
          </p:cNvPr>
          <p:cNvPicPr/>
          <p:nvPr/>
        </p:nvPicPr>
        <p:blipFill>
          <a:blip r:embed="rId2" cstate="print"/>
          <a:stretch>
            <a:fillRect/>
          </a:stretch>
        </p:blipFill>
        <p:spPr>
          <a:xfrm>
            <a:off x="8403474" y="2643447"/>
            <a:ext cx="3157451" cy="2508116"/>
          </a:xfrm>
          <a:prstGeom prst="rect">
            <a:avLst/>
          </a:prstGeom>
        </p:spPr>
      </p:pic>
    </p:spTree>
    <p:extLst>
      <p:ext uri="{BB962C8B-B14F-4D97-AF65-F5344CB8AC3E}">
        <p14:creationId xmlns:p14="http://schemas.microsoft.com/office/powerpoint/2010/main" val="14447204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E4440-69E1-82EB-F60A-7F900942D432}"/>
              </a:ext>
            </a:extLst>
          </p:cNvPr>
          <p:cNvSpPr>
            <a:spLocks noGrp="1"/>
          </p:cNvSpPr>
          <p:nvPr>
            <p:ph type="title"/>
          </p:nvPr>
        </p:nvSpPr>
        <p:spPr/>
        <p:txBody>
          <a:bodyPr/>
          <a:lstStyle/>
          <a:p>
            <a:r>
              <a:rPr lang="en-IN" sz="4400" b="1" dirty="0">
                <a:latin typeface="Times New Roman" panose="02020603050405020304" pitchFamily="18" charset="0"/>
                <a:cs typeface="Times New Roman" panose="02020603050405020304" pitchFamily="18" charset="0"/>
              </a:rPr>
              <a:t>Hardware Requirement</a:t>
            </a:r>
            <a:endParaRPr lang="en-IN" dirty="0"/>
          </a:p>
        </p:txBody>
      </p:sp>
      <p:sp>
        <p:nvSpPr>
          <p:cNvPr id="3" name="Text Placeholder 2">
            <a:extLst>
              <a:ext uri="{FF2B5EF4-FFF2-40B4-BE49-F238E27FC236}">
                <a16:creationId xmlns:a16="http://schemas.microsoft.com/office/drawing/2014/main" id="{95CD822B-7157-1868-5C49-067AE2569089}"/>
              </a:ext>
            </a:extLst>
          </p:cNvPr>
          <p:cNvSpPr>
            <a:spLocks noGrp="1"/>
          </p:cNvSpPr>
          <p:nvPr>
            <p:ph type="body" idx="1"/>
          </p:nvPr>
        </p:nvSpPr>
        <p:spPr>
          <a:xfrm>
            <a:off x="838200" y="1825625"/>
            <a:ext cx="7166956" cy="4351338"/>
          </a:xfrm>
        </p:spPr>
        <p:txBody>
          <a:bodyPr>
            <a:normAutofit/>
          </a:bodyPr>
          <a:lstStyle/>
          <a:p>
            <a:r>
              <a:rPr lang="en-IN" sz="2000" b="1" spc="-5" dirty="0">
                <a:latin typeface="Times New Roman" panose="02020603050405020304"/>
                <a:cs typeface="Times New Roman" panose="02020603050405020304"/>
              </a:rPr>
              <a:t>Servo</a:t>
            </a:r>
            <a:r>
              <a:rPr lang="en-IN" sz="2000" b="1" spc="-30" dirty="0">
                <a:latin typeface="Times New Roman" panose="02020603050405020304"/>
                <a:cs typeface="Times New Roman" panose="02020603050405020304"/>
              </a:rPr>
              <a:t> </a:t>
            </a:r>
            <a:r>
              <a:rPr lang="en-IN" sz="2000" b="1" spc="-10" dirty="0">
                <a:latin typeface="Times New Roman" panose="02020603050405020304"/>
                <a:cs typeface="Times New Roman" panose="02020603050405020304"/>
              </a:rPr>
              <a:t>motor</a:t>
            </a:r>
          </a:p>
          <a:p>
            <a:pPr marL="114300" indent="0" algn="just">
              <a:buNone/>
            </a:pPr>
            <a:r>
              <a:rPr lang="en-US" sz="2000" spc="-10" dirty="0">
                <a:latin typeface="Times New Roman" panose="02020603050405020304"/>
                <a:cs typeface="Times New Roman" panose="02020603050405020304"/>
              </a:rPr>
              <a:t>According to cost analysis, we use the MG995 metal gear servo motor.  MG995 Metal Gear Servo Motor is a standard high-speed servo that can rotate  approximately 180 degrees (60 in each direction). Also, it provides 10kg/cm  at 4.8V and 12kgcm at a voltage of 6V. The motor is a digital servo motor  which receives and processes PWM signals better and faster. Its highly  developed internal circuitry offers higher torque, holding power, and faster  updates in response to outside forces. They are well sealed in a solid plastic  container, making them water and dust-resistant, a quality that is highly  beneficial for pet food feeder machines. The motor Operating Speed at no  load (4.8V) is 20sec/ 60 deg. Operation Voltage is 4.8 to 7.2V. All gears are  metal, which helps excellent holding power and accurate positioning.</a:t>
            </a:r>
          </a:p>
          <a:p>
            <a:pPr marL="114300" indent="0">
              <a:buNone/>
            </a:pPr>
            <a:endParaRPr lang="en-IN" sz="2000" b="1" spc="-10" dirty="0">
              <a:latin typeface="Times New Roman" panose="02020603050405020304"/>
              <a:cs typeface="Times New Roman" panose="02020603050405020304"/>
            </a:endParaRPr>
          </a:p>
        </p:txBody>
      </p:sp>
      <p:sp>
        <p:nvSpPr>
          <p:cNvPr id="4" name="Slide Number Placeholder 3">
            <a:extLst>
              <a:ext uri="{FF2B5EF4-FFF2-40B4-BE49-F238E27FC236}">
                <a16:creationId xmlns:a16="http://schemas.microsoft.com/office/drawing/2014/main" id="{320C016D-6A72-9E9E-4D9E-5061110D502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pic>
        <p:nvPicPr>
          <p:cNvPr id="5" name="object 6">
            <a:extLst>
              <a:ext uri="{FF2B5EF4-FFF2-40B4-BE49-F238E27FC236}">
                <a16:creationId xmlns:a16="http://schemas.microsoft.com/office/drawing/2014/main" id="{C2874241-DD27-7433-199C-A010DA057E05}"/>
              </a:ext>
            </a:extLst>
          </p:cNvPr>
          <p:cNvPicPr/>
          <p:nvPr/>
        </p:nvPicPr>
        <p:blipFill>
          <a:blip r:embed="rId2" cstate="print"/>
          <a:stretch>
            <a:fillRect/>
          </a:stretch>
        </p:blipFill>
        <p:spPr>
          <a:xfrm>
            <a:off x="8284327" y="2776451"/>
            <a:ext cx="3478182" cy="2701635"/>
          </a:xfrm>
          <a:prstGeom prst="rect">
            <a:avLst/>
          </a:prstGeom>
        </p:spPr>
      </p:pic>
    </p:spTree>
    <p:extLst>
      <p:ext uri="{BB962C8B-B14F-4D97-AF65-F5344CB8AC3E}">
        <p14:creationId xmlns:p14="http://schemas.microsoft.com/office/powerpoint/2010/main" val="6636152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46557-CF35-2CE9-EADE-EE41148E46B6}"/>
              </a:ext>
            </a:extLst>
          </p:cNvPr>
          <p:cNvSpPr>
            <a:spLocks noGrp="1"/>
          </p:cNvSpPr>
          <p:nvPr>
            <p:ph type="title"/>
          </p:nvPr>
        </p:nvSpPr>
        <p:spPr/>
        <p:txBody>
          <a:bodyPr/>
          <a:lstStyle/>
          <a:p>
            <a:r>
              <a:rPr lang="en-IN" sz="4800" b="1" spc="-5" dirty="0">
                <a:latin typeface="Times New Roman" panose="02020603050405020304"/>
                <a:cs typeface="Times New Roman" panose="02020603050405020304"/>
              </a:rPr>
              <a:t>Software</a:t>
            </a:r>
            <a:r>
              <a:rPr lang="en-IN" b="1" spc="-30" dirty="0">
                <a:latin typeface="Times New Roman" panose="02020603050405020304"/>
                <a:cs typeface="Times New Roman" panose="02020603050405020304"/>
              </a:rPr>
              <a:t> Requirement</a:t>
            </a:r>
            <a:endParaRPr lang="en-IN" b="1" dirty="0"/>
          </a:p>
        </p:txBody>
      </p:sp>
      <p:sp>
        <p:nvSpPr>
          <p:cNvPr id="3" name="Text Placeholder 2">
            <a:extLst>
              <a:ext uri="{FF2B5EF4-FFF2-40B4-BE49-F238E27FC236}">
                <a16:creationId xmlns:a16="http://schemas.microsoft.com/office/drawing/2014/main" id="{249DCE8B-EF46-E3DA-ABA3-1D903B58E281}"/>
              </a:ext>
            </a:extLst>
          </p:cNvPr>
          <p:cNvSpPr>
            <a:spLocks noGrp="1"/>
          </p:cNvSpPr>
          <p:nvPr>
            <p:ph type="body" idx="1"/>
          </p:nvPr>
        </p:nvSpPr>
        <p:spPr>
          <a:xfrm>
            <a:off x="838200" y="1825625"/>
            <a:ext cx="10515600" cy="5032375"/>
          </a:xfrm>
        </p:spPr>
        <p:txBody>
          <a:bodyPr>
            <a:noAutofit/>
          </a:bodyPr>
          <a:lstStyle/>
          <a:p>
            <a:r>
              <a:rPr lang="en-US" sz="2000" b="1" dirty="0">
                <a:latin typeface="Times New Roman" panose="02020603050405020304" pitchFamily="18" charset="0"/>
                <a:cs typeface="Times New Roman" panose="02020603050405020304" pitchFamily="18" charset="0"/>
              </a:rPr>
              <a:t>Arduino IDE:</a:t>
            </a:r>
          </a:p>
          <a:p>
            <a:pPr algn="just"/>
            <a:r>
              <a:rPr lang="en-US" sz="2000" dirty="0">
                <a:latin typeface="Times New Roman" panose="02020603050405020304" pitchFamily="18" charset="0"/>
                <a:cs typeface="Times New Roman" panose="02020603050405020304" pitchFamily="18" charset="0"/>
              </a:rPr>
              <a:t>Download and install the latest version of Arduino IDE, available from the official Arduino website (https://www.arduino.cc/en/software).</a:t>
            </a:r>
          </a:p>
          <a:p>
            <a:pPr algn="just"/>
            <a:r>
              <a:rPr lang="en-US" sz="2000" dirty="0">
                <a:latin typeface="Times New Roman" panose="02020603050405020304" pitchFamily="18" charset="0"/>
                <a:cs typeface="Times New Roman" panose="02020603050405020304" pitchFamily="18" charset="0"/>
              </a:rPr>
              <a:t>Ensure that the Arduino IDE supports the specific Arduino board models and components used in the dog daycare robot project.</a:t>
            </a:r>
          </a:p>
          <a:p>
            <a:pPr marL="114300" indent="0" algn="just">
              <a:buNone/>
            </a:pPr>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Proteus:</a:t>
            </a:r>
          </a:p>
          <a:p>
            <a:pPr algn="just"/>
            <a:r>
              <a:rPr lang="en-US" sz="2000" dirty="0">
                <a:latin typeface="Times New Roman" panose="02020603050405020304" pitchFamily="18" charset="0"/>
                <a:cs typeface="Times New Roman" panose="02020603050405020304" pitchFamily="18" charset="0"/>
              </a:rPr>
              <a:t>Obtain and install Proteus Professional software, which allows for simulation of the hardware components used in the project.</a:t>
            </a:r>
          </a:p>
          <a:p>
            <a:pPr algn="just"/>
            <a:r>
              <a:rPr lang="en-US" sz="2000" dirty="0">
                <a:latin typeface="Times New Roman" panose="02020603050405020304" pitchFamily="18" charset="0"/>
                <a:cs typeface="Times New Roman" panose="02020603050405020304" pitchFamily="18" charset="0"/>
              </a:rPr>
              <a:t>Ensure compatibility with the Arduino boards and modules selected for the IoT dog daycare robot.</a:t>
            </a:r>
          </a:p>
          <a:p>
            <a:pPr algn="just"/>
            <a:r>
              <a:rPr lang="en-US" sz="2000" dirty="0">
                <a:latin typeface="Times New Roman" panose="02020603050405020304" pitchFamily="18" charset="0"/>
                <a:cs typeface="Times New Roman" panose="02020603050405020304" pitchFamily="18" charset="0"/>
              </a:rPr>
              <a:t>Proteus software provides an interactive platform for testing and verifying the functionality of the electronic circuits before physical implementation.</a:t>
            </a:r>
          </a:p>
        </p:txBody>
      </p:sp>
      <p:sp>
        <p:nvSpPr>
          <p:cNvPr id="4" name="Slide Number Placeholder 3">
            <a:extLst>
              <a:ext uri="{FF2B5EF4-FFF2-40B4-BE49-F238E27FC236}">
                <a16:creationId xmlns:a16="http://schemas.microsoft.com/office/drawing/2014/main" id="{FDC992CC-E204-DBC1-79CE-FCB5139001B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Tree>
    <p:extLst>
      <p:ext uri="{BB962C8B-B14F-4D97-AF65-F5344CB8AC3E}">
        <p14:creationId xmlns:p14="http://schemas.microsoft.com/office/powerpoint/2010/main" val="40697955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B1400-47C2-5A6F-4B3B-F3769C76D5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0E222-0093-FCB9-44CB-F7E15BE84BB9}"/>
              </a:ext>
            </a:extLst>
          </p:cNvPr>
          <p:cNvSpPr>
            <a:spLocks noGrp="1"/>
          </p:cNvSpPr>
          <p:nvPr>
            <p:ph type="title"/>
          </p:nvPr>
        </p:nvSpPr>
        <p:spPr/>
        <p:txBody>
          <a:bodyPr/>
          <a:lstStyle/>
          <a:p>
            <a:r>
              <a:rPr lang="en-IN" sz="4800" b="1" spc="-5" dirty="0">
                <a:latin typeface="Times New Roman" panose="02020603050405020304"/>
                <a:cs typeface="Times New Roman" panose="02020603050405020304"/>
              </a:rPr>
              <a:t>Software</a:t>
            </a:r>
            <a:r>
              <a:rPr lang="en-IN" b="1" spc="-30" dirty="0">
                <a:latin typeface="Times New Roman" panose="02020603050405020304"/>
                <a:cs typeface="Times New Roman" panose="02020603050405020304"/>
              </a:rPr>
              <a:t> Requirement</a:t>
            </a:r>
            <a:endParaRPr lang="en-IN" b="1" dirty="0"/>
          </a:p>
        </p:txBody>
      </p:sp>
      <p:sp>
        <p:nvSpPr>
          <p:cNvPr id="3" name="Text Placeholder 2">
            <a:extLst>
              <a:ext uri="{FF2B5EF4-FFF2-40B4-BE49-F238E27FC236}">
                <a16:creationId xmlns:a16="http://schemas.microsoft.com/office/drawing/2014/main" id="{86D2AAA7-A0BA-003C-5BFA-D5DAE9A3AD6C}"/>
              </a:ext>
            </a:extLst>
          </p:cNvPr>
          <p:cNvSpPr>
            <a:spLocks noGrp="1"/>
          </p:cNvSpPr>
          <p:nvPr>
            <p:ph type="body" idx="1"/>
          </p:nvPr>
        </p:nvSpPr>
        <p:spPr>
          <a:xfrm>
            <a:off x="838200" y="1825626"/>
            <a:ext cx="10515600" cy="4895850"/>
          </a:xfrm>
        </p:spPr>
        <p:txBody>
          <a:bodyPr>
            <a:noAutofit/>
          </a:bodyPr>
          <a:lstStyle/>
          <a:p>
            <a:r>
              <a:rPr lang="en-US" sz="2000" b="1" dirty="0">
                <a:latin typeface="Times New Roman" panose="02020603050405020304" pitchFamily="18" charset="0"/>
                <a:cs typeface="Times New Roman" panose="02020603050405020304" pitchFamily="18" charset="0"/>
              </a:rPr>
              <a:t>C Language Compiler:</a:t>
            </a:r>
          </a:p>
          <a:p>
            <a:pPr algn="just"/>
            <a:r>
              <a:rPr lang="en-US" sz="2000" dirty="0">
                <a:latin typeface="Times New Roman" panose="02020603050405020304" pitchFamily="18" charset="0"/>
                <a:cs typeface="Times New Roman" panose="02020603050405020304" pitchFamily="18" charset="0"/>
              </a:rPr>
              <a:t>Set up a C language compiler for writing and compiling the software code for the Arduino microcontrollers.</a:t>
            </a:r>
          </a:p>
          <a:p>
            <a:pPr algn="just"/>
            <a:r>
              <a:rPr lang="en-US" sz="2000" dirty="0">
                <a:latin typeface="Times New Roman" panose="02020603050405020304" pitchFamily="18" charset="0"/>
                <a:cs typeface="Times New Roman" panose="02020603050405020304" pitchFamily="18" charset="0"/>
              </a:rPr>
              <a:t>Arduino IDE usually comes with a built-in C/C++ compiler, but for advanced coding and debugging, developers may use external compilers such as AVR-GCC.</a:t>
            </a:r>
          </a:p>
          <a:p>
            <a:pPr algn="just"/>
            <a:r>
              <a:rPr lang="en-US" sz="2000" dirty="0">
                <a:latin typeface="Times New Roman" panose="02020603050405020304" pitchFamily="18" charset="0"/>
                <a:cs typeface="Times New Roman" panose="02020603050405020304" pitchFamily="18" charset="0"/>
              </a:rPr>
              <a:t>Ensure that the compiler is configured correctly to generate the appropriate hex file for uploading to the Arduino boards.</a:t>
            </a:r>
          </a:p>
        </p:txBody>
      </p:sp>
      <p:sp>
        <p:nvSpPr>
          <p:cNvPr id="4" name="Slide Number Placeholder 3">
            <a:extLst>
              <a:ext uri="{FF2B5EF4-FFF2-40B4-BE49-F238E27FC236}">
                <a16:creationId xmlns:a16="http://schemas.microsoft.com/office/drawing/2014/main" id="{A994FD1C-D5E2-D2A7-0EC5-9301CE4CE20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Tree>
    <p:extLst>
      <p:ext uri="{BB962C8B-B14F-4D97-AF65-F5344CB8AC3E}">
        <p14:creationId xmlns:p14="http://schemas.microsoft.com/office/powerpoint/2010/main" val="23443551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FB9FC-3940-9BA1-751A-E38592D20359}"/>
              </a:ext>
            </a:extLst>
          </p:cNvPr>
          <p:cNvSpPr>
            <a:spLocks noGrp="1"/>
          </p:cNvSpPr>
          <p:nvPr>
            <p:ph type="title"/>
          </p:nvPr>
        </p:nvSpPr>
        <p:spPr/>
        <p:txBody>
          <a:bodyPr/>
          <a:lstStyle/>
          <a:p>
            <a:r>
              <a:rPr lang="en-US" b="1" dirty="0"/>
              <a:t>Block Diagram</a:t>
            </a:r>
            <a:endParaRPr lang="en-IN" b="1" dirty="0"/>
          </a:p>
        </p:txBody>
      </p:sp>
      <p:sp>
        <p:nvSpPr>
          <p:cNvPr id="3" name="Text Placeholder 2">
            <a:extLst>
              <a:ext uri="{FF2B5EF4-FFF2-40B4-BE49-F238E27FC236}">
                <a16:creationId xmlns:a16="http://schemas.microsoft.com/office/drawing/2014/main" id="{2094159E-90CD-8064-E046-B49CEE6D1FD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172AF15-7B7F-67F9-41DC-1B2019F3414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pic>
        <p:nvPicPr>
          <p:cNvPr id="5" name="Content Placeholder 1">
            <a:extLst>
              <a:ext uri="{FF2B5EF4-FFF2-40B4-BE49-F238E27FC236}">
                <a16:creationId xmlns:a16="http://schemas.microsoft.com/office/drawing/2014/main" id="{24173ED8-3189-E7E2-372F-B77B5E16A130}"/>
              </a:ext>
            </a:extLst>
          </p:cNvPr>
          <p:cNvPicPr>
            <a:picLocks noGrp="1" noChangeAspect="1"/>
          </p:cNvPicPr>
          <p:nvPr>
            <p:ph idx="1"/>
          </p:nvPr>
        </p:nvPicPr>
        <p:blipFill>
          <a:blip r:embed="rId2"/>
          <a:stretch>
            <a:fillRect/>
          </a:stretch>
        </p:blipFill>
        <p:spPr>
          <a:xfrm>
            <a:off x="1043248" y="2016818"/>
            <a:ext cx="6928658" cy="3777153"/>
          </a:xfrm>
          <a:prstGeom prst="rect">
            <a:avLst/>
          </a:prstGeom>
        </p:spPr>
      </p:pic>
    </p:spTree>
    <p:extLst>
      <p:ext uri="{BB962C8B-B14F-4D97-AF65-F5344CB8AC3E}">
        <p14:creationId xmlns:p14="http://schemas.microsoft.com/office/powerpoint/2010/main" val="14219335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8F1E6-E638-88C2-AB2B-B3AC5C919EAF}"/>
              </a:ext>
            </a:extLst>
          </p:cNvPr>
          <p:cNvSpPr>
            <a:spLocks noGrp="1"/>
          </p:cNvSpPr>
          <p:nvPr>
            <p:ph type="title"/>
          </p:nvPr>
        </p:nvSpPr>
        <p:spPr/>
        <p:txBody>
          <a:bodyPr/>
          <a:lstStyle/>
          <a:p>
            <a:r>
              <a:rPr lang="en-US" b="1" dirty="0"/>
              <a:t>System Architecture</a:t>
            </a:r>
            <a:endParaRPr lang="en-IN" b="1" dirty="0"/>
          </a:p>
        </p:txBody>
      </p:sp>
      <p:sp>
        <p:nvSpPr>
          <p:cNvPr id="3" name="Text Placeholder 2">
            <a:extLst>
              <a:ext uri="{FF2B5EF4-FFF2-40B4-BE49-F238E27FC236}">
                <a16:creationId xmlns:a16="http://schemas.microsoft.com/office/drawing/2014/main" id="{811D0C6C-6202-7E18-8000-39F9E417FEE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7E3F019-CB37-D43F-CD62-50463B06655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pic>
        <p:nvPicPr>
          <p:cNvPr id="7" name="Picture 6">
            <a:extLst>
              <a:ext uri="{FF2B5EF4-FFF2-40B4-BE49-F238E27FC236}">
                <a16:creationId xmlns:a16="http://schemas.microsoft.com/office/drawing/2014/main" id="{1FEE467A-6149-DFC5-3865-57595B4A65F5}"/>
              </a:ext>
            </a:extLst>
          </p:cNvPr>
          <p:cNvPicPr>
            <a:picLocks noChangeAspect="1"/>
          </p:cNvPicPr>
          <p:nvPr/>
        </p:nvPicPr>
        <p:blipFill>
          <a:blip r:embed="rId2"/>
          <a:stretch>
            <a:fillRect/>
          </a:stretch>
        </p:blipFill>
        <p:spPr>
          <a:xfrm>
            <a:off x="1181762" y="2010507"/>
            <a:ext cx="8664691" cy="3833340"/>
          </a:xfrm>
          <a:prstGeom prst="rect">
            <a:avLst/>
          </a:prstGeom>
        </p:spPr>
      </p:pic>
    </p:spTree>
    <p:extLst>
      <p:ext uri="{BB962C8B-B14F-4D97-AF65-F5344CB8AC3E}">
        <p14:creationId xmlns:p14="http://schemas.microsoft.com/office/powerpoint/2010/main" val="40375062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BD7A9-9FCB-DFE1-3DEE-0CA23115E30A}"/>
              </a:ext>
            </a:extLst>
          </p:cNvPr>
          <p:cNvSpPr>
            <a:spLocks noGrp="1"/>
          </p:cNvSpPr>
          <p:nvPr>
            <p:ph type="title"/>
          </p:nvPr>
        </p:nvSpPr>
        <p:spPr/>
        <p:txBody>
          <a:bodyPr/>
          <a:lstStyle/>
          <a:p>
            <a:r>
              <a:rPr lang="en-US" b="1" dirty="0"/>
              <a:t>System </a:t>
            </a:r>
            <a:r>
              <a:rPr lang="en-US" b="1" dirty="0" err="1"/>
              <a:t>Design:UML</a:t>
            </a:r>
            <a:r>
              <a:rPr lang="en-US" b="1" dirty="0"/>
              <a:t>  Diagram</a:t>
            </a:r>
            <a:endParaRPr lang="en-IN" b="1" dirty="0"/>
          </a:p>
        </p:txBody>
      </p:sp>
      <p:sp>
        <p:nvSpPr>
          <p:cNvPr id="3" name="Text Placeholder 2">
            <a:extLst>
              <a:ext uri="{FF2B5EF4-FFF2-40B4-BE49-F238E27FC236}">
                <a16:creationId xmlns:a16="http://schemas.microsoft.com/office/drawing/2014/main" id="{4D3510B3-CA47-F67B-AC24-DFC6F405E126}"/>
              </a:ext>
            </a:extLst>
          </p:cNvPr>
          <p:cNvSpPr>
            <a:spLocks noGrp="1"/>
          </p:cNvSpPr>
          <p:nvPr>
            <p:ph type="body" idx="1"/>
          </p:nvPr>
        </p:nvSpPr>
        <p:spPr/>
        <p:txBody>
          <a:bodyPr/>
          <a:lstStyle/>
          <a:p>
            <a:r>
              <a:rPr lang="en-US" sz="2000" b="1" dirty="0">
                <a:latin typeface="Times New Roman" panose="02020603050405020304" pitchFamily="18" charset="0"/>
                <a:cs typeface="Times New Roman" panose="02020603050405020304" pitchFamily="18" charset="0"/>
              </a:rPr>
              <a:t>Use Case Diagram</a:t>
            </a:r>
          </a:p>
          <a:p>
            <a:endParaRPr lang="en-IN" dirty="0"/>
          </a:p>
        </p:txBody>
      </p:sp>
      <p:sp>
        <p:nvSpPr>
          <p:cNvPr id="4" name="Slide Number Placeholder 3">
            <a:extLst>
              <a:ext uri="{FF2B5EF4-FFF2-40B4-BE49-F238E27FC236}">
                <a16:creationId xmlns:a16="http://schemas.microsoft.com/office/drawing/2014/main" id="{B7487E7A-EEA9-DA6C-134A-02653F8747D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pic>
        <p:nvPicPr>
          <p:cNvPr id="7" name="Picture 6">
            <a:extLst>
              <a:ext uri="{FF2B5EF4-FFF2-40B4-BE49-F238E27FC236}">
                <a16:creationId xmlns:a16="http://schemas.microsoft.com/office/drawing/2014/main" id="{A03C242D-37CD-7616-5D3E-2458058D409C}"/>
              </a:ext>
            </a:extLst>
          </p:cNvPr>
          <p:cNvPicPr>
            <a:picLocks noChangeAspect="1"/>
          </p:cNvPicPr>
          <p:nvPr/>
        </p:nvPicPr>
        <p:blipFill>
          <a:blip r:embed="rId2"/>
          <a:stretch>
            <a:fillRect/>
          </a:stretch>
        </p:blipFill>
        <p:spPr>
          <a:xfrm>
            <a:off x="3581401" y="2316753"/>
            <a:ext cx="6073666" cy="4176122"/>
          </a:xfrm>
          <a:prstGeom prst="rect">
            <a:avLst/>
          </a:prstGeom>
        </p:spPr>
      </p:pic>
    </p:spTree>
    <p:extLst>
      <p:ext uri="{BB962C8B-B14F-4D97-AF65-F5344CB8AC3E}">
        <p14:creationId xmlns:p14="http://schemas.microsoft.com/office/powerpoint/2010/main" val="10078045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4DB98-FD2B-664D-D2A5-B599ED5540BA}"/>
              </a:ext>
            </a:extLst>
          </p:cNvPr>
          <p:cNvSpPr>
            <a:spLocks noGrp="1"/>
          </p:cNvSpPr>
          <p:nvPr>
            <p:ph type="title"/>
          </p:nvPr>
        </p:nvSpPr>
        <p:spPr/>
        <p:txBody>
          <a:bodyPr/>
          <a:lstStyle/>
          <a:p>
            <a:r>
              <a:rPr lang="en-US" b="1" dirty="0"/>
              <a:t>Sequence Diagram</a:t>
            </a:r>
            <a:endParaRPr lang="en-IN" b="1" dirty="0"/>
          </a:p>
        </p:txBody>
      </p:sp>
      <p:sp>
        <p:nvSpPr>
          <p:cNvPr id="3" name="Text Placeholder 2">
            <a:extLst>
              <a:ext uri="{FF2B5EF4-FFF2-40B4-BE49-F238E27FC236}">
                <a16:creationId xmlns:a16="http://schemas.microsoft.com/office/drawing/2014/main" id="{A8BFBB32-873D-6ECB-D596-6137830055DA}"/>
              </a:ext>
            </a:extLst>
          </p:cNvPr>
          <p:cNvSpPr>
            <a:spLocks noGrp="1"/>
          </p:cNvSpPr>
          <p:nvPr>
            <p:ph type="body" idx="1"/>
          </p:nvPr>
        </p:nvSpPr>
        <p:spPr/>
        <p:txBody>
          <a:bodyPr>
            <a:normAutofit/>
          </a:bodyPr>
          <a:lstStyle/>
          <a:p>
            <a:pPr marL="114300" indent="0">
              <a:buNone/>
            </a:pPr>
            <a:r>
              <a:rPr lang="en-US" sz="2000" b="1" dirty="0">
                <a:latin typeface="Times New Roman" panose="02020603050405020304" pitchFamily="18" charset="0"/>
                <a:cs typeface="Times New Roman" panose="02020603050405020304" pitchFamily="18" charset="0"/>
              </a:rPr>
              <a:t>Sequence Diagram</a:t>
            </a:r>
            <a:endParaRPr lang="en-IN" sz="2000"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2184406-4769-3E93-61BC-A79A0266596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pic>
        <p:nvPicPr>
          <p:cNvPr id="5" name="Content Placeholder 0">
            <a:extLst>
              <a:ext uri="{FF2B5EF4-FFF2-40B4-BE49-F238E27FC236}">
                <a16:creationId xmlns:a16="http://schemas.microsoft.com/office/drawing/2014/main" id="{60CD96D8-543A-2058-FBE6-4E62DB7AA4FB}"/>
              </a:ext>
            </a:extLst>
          </p:cNvPr>
          <p:cNvPicPr>
            <a:picLocks noGrp="1" noChangeAspect="1"/>
          </p:cNvPicPr>
          <p:nvPr>
            <p:ph sz="half" idx="1"/>
          </p:nvPr>
        </p:nvPicPr>
        <p:blipFill>
          <a:blip r:embed="rId2"/>
          <a:stretch>
            <a:fillRect/>
          </a:stretch>
        </p:blipFill>
        <p:spPr>
          <a:xfrm>
            <a:off x="2984268" y="2288209"/>
            <a:ext cx="7165571" cy="3978448"/>
          </a:xfrm>
          <a:prstGeom prst="rect">
            <a:avLst/>
          </a:prstGeom>
        </p:spPr>
      </p:pic>
    </p:spTree>
    <p:extLst>
      <p:ext uri="{BB962C8B-B14F-4D97-AF65-F5344CB8AC3E}">
        <p14:creationId xmlns:p14="http://schemas.microsoft.com/office/powerpoint/2010/main" val="37814416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BAAA9-12A2-5EF6-4F88-2DB1BEBB822E}"/>
              </a:ext>
            </a:extLst>
          </p:cNvPr>
          <p:cNvSpPr>
            <a:spLocks noGrp="1"/>
          </p:cNvSpPr>
          <p:nvPr>
            <p:ph type="title"/>
          </p:nvPr>
        </p:nvSpPr>
        <p:spPr/>
        <p:txBody>
          <a:bodyPr/>
          <a:lstStyle/>
          <a:p>
            <a:r>
              <a:rPr lang="en-US" b="1" dirty="0"/>
              <a:t>Activity Diagram</a:t>
            </a:r>
            <a:endParaRPr lang="en-IN" b="1" dirty="0"/>
          </a:p>
        </p:txBody>
      </p:sp>
      <p:sp>
        <p:nvSpPr>
          <p:cNvPr id="3" name="Text Placeholder 2">
            <a:extLst>
              <a:ext uri="{FF2B5EF4-FFF2-40B4-BE49-F238E27FC236}">
                <a16:creationId xmlns:a16="http://schemas.microsoft.com/office/drawing/2014/main" id="{B4266188-B932-A8D1-567C-0B835D27E31F}"/>
              </a:ext>
            </a:extLst>
          </p:cNvPr>
          <p:cNvSpPr>
            <a:spLocks noGrp="1"/>
          </p:cNvSpPr>
          <p:nvPr>
            <p:ph type="body" idx="1"/>
          </p:nvPr>
        </p:nvSpPr>
        <p:spPr>
          <a:xfrm>
            <a:off x="838200" y="1825625"/>
            <a:ext cx="10515600" cy="4667250"/>
          </a:xfrm>
        </p:spPr>
        <p:txBody>
          <a:bodyPr>
            <a:normAutofit/>
          </a:bodyPr>
          <a:lstStyle/>
          <a:p>
            <a:r>
              <a:rPr lang="en-US" sz="2000" b="1" dirty="0">
                <a:latin typeface="Times New Roman" panose="02020603050405020304" pitchFamily="18" charset="0"/>
                <a:cs typeface="Times New Roman" panose="02020603050405020304" pitchFamily="18" charset="0"/>
              </a:rPr>
              <a:t>Activity Diagram</a:t>
            </a:r>
            <a:endParaRPr lang="en-IN" sz="2000"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ED97731-87EE-B25F-A763-64F82BF0063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pic>
        <p:nvPicPr>
          <p:cNvPr id="5" name="object 3">
            <a:extLst>
              <a:ext uri="{FF2B5EF4-FFF2-40B4-BE49-F238E27FC236}">
                <a16:creationId xmlns:a16="http://schemas.microsoft.com/office/drawing/2014/main" id="{78742F4F-CEB0-3618-F591-5298B7F11FC9}"/>
              </a:ext>
            </a:extLst>
          </p:cNvPr>
          <p:cNvPicPr>
            <a:picLocks noGrp="1"/>
          </p:cNvPicPr>
          <p:nvPr>
            <p:ph idx="1"/>
          </p:nvPr>
        </p:nvPicPr>
        <p:blipFill>
          <a:blip r:embed="rId2" cstate="print"/>
          <a:stretch>
            <a:fillRect/>
          </a:stretch>
        </p:blipFill>
        <p:spPr>
          <a:xfrm>
            <a:off x="4638502" y="2154238"/>
            <a:ext cx="4106487" cy="4022725"/>
          </a:xfrm>
          <a:prstGeom prst="rect">
            <a:avLst/>
          </a:prstGeom>
        </p:spPr>
      </p:pic>
    </p:spTree>
    <p:extLst>
      <p:ext uri="{BB962C8B-B14F-4D97-AF65-F5344CB8AC3E}">
        <p14:creationId xmlns:p14="http://schemas.microsoft.com/office/powerpoint/2010/main" val="36461447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62882-2C69-AA1C-642C-BC674A192D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19BC04-B274-CA99-071D-92AB2236FC8B}"/>
              </a:ext>
            </a:extLst>
          </p:cNvPr>
          <p:cNvSpPr>
            <a:spLocks noGrp="1"/>
          </p:cNvSpPr>
          <p:nvPr>
            <p:ph type="title"/>
          </p:nvPr>
        </p:nvSpPr>
        <p:spPr/>
        <p:txBody>
          <a:bodyPr/>
          <a:lstStyle/>
          <a:p>
            <a:r>
              <a:rPr lang="en-US" b="1" dirty="0"/>
              <a:t>Algorithm</a:t>
            </a:r>
            <a:endParaRPr lang="en-IN" b="1" dirty="0"/>
          </a:p>
        </p:txBody>
      </p:sp>
      <p:sp>
        <p:nvSpPr>
          <p:cNvPr id="3" name="Text Placeholder 2">
            <a:extLst>
              <a:ext uri="{FF2B5EF4-FFF2-40B4-BE49-F238E27FC236}">
                <a16:creationId xmlns:a16="http://schemas.microsoft.com/office/drawing/2014/main" id="{8DECBC20-6715-7DDF-F19F-ACA0D8D5EC89}"/>
              </a:ext>
            </a:extLst>
          </p:cNvPr>
          <p:cNvSpPr>
            <a:spLocks noGrp="1"/>
          </p:cNvSpPr>
          <p:nvPr>
            <p:ph type="body" idx="1"/>
          </p:nvPr>
        </p:nvSpPr>
        <p:spPr>
          <a:xfrm>
            <a:off x="838200" y="1825625"/>
            <a:ext cx="10515600" cy="4895850"/>
          </a:xfrm>
        </p:spPr>
        <p:txBody>
          <a:bodyPr>
            <a:normAutofit fontScale="25000" lnSpcReduction="20000"/>
          </a:bodyPr>
          <a:lstStyle/>
          <a:p>
            <a:pPr algn="just"/>
            <a:r>
              <a:rPr lang="en-US" sz="8000" b="1" dirty="0">
                <a:latin typeface="Times New Roman" panose="02020603050405020304" pitchFamily="18" charset="0"/>
                <a:cs typeface="Times New Roman" panose="02020603050405020304" pitchFamily="18" charset="0"/>
              </a:rPr>
              <a:t>Step-1: Initialization:</a:t>
            </a:r>
          </a:p>
          <a:p>
            <a:pPr marL="114300" indent="0" algn="just">
              <a:buNone/>
            </a:pPr>
            <a:r>
              <a:rPr lang="en-US" sz="8000" dirty="0">
                <a:latin typeface="Times New Roman" panose="02020603050405020304" pitchFamily="18" charset="0"/>
                <a:cs typeface="Times New Roman" panose="02020603050405020304" pitchFamily="18" charset="0"/>
              </a:rPr>
              <a:t>Power on the robot and establish a secure connection to the IoT network.</a:t>
            </a:r>
          </a:p>
          <a:p>
            <a:pPr algn="just"/>
            <a:r>
              <a:rPr lang="en-US" sz="8000" b="1" dirty="0">
                <a:latin typeface="Times New Roman" panose="02020603050405020304" pitchFamily="18" charset="0"/>
                <a:cs typeface="Times New Roman" panose="02020603050405020304" pitchFamily="18" charset="0"/>
              </a:rPr>
              <a:t>Step-2 : User Authentication:</a:t>
            </a:r>
          </a:p>
          <a:p>
            <a:pPr marL="114300" indent="0" algn="just">
              <a:buNone/>
            </a:pPr>
            <a:r>
              <a:rPr lang="en-US" sz="8000" dirty="0">
                <a:latin typeface="Times New Roman" panose="02020603050405020304" pitchFamily="18" charset="0"/>
                <a:cs typeface="Times New Roman" panose="02020603050405020304" pitchFamily="18" charset="0"/>
              </a:rPr>
              <a:t>Authenticate the user (dog owner) through the mobile app using secure credentials.</a:t>
            </a:r>
          </a:p>
          <a:p>
            <a:pPr algn="just"/>
            <a:r>
              <a:rPr lang="en-US" sz="8000" b="1" dirty="0">
                <a:latin typeface="Times New Roman" panose="02020603050405020304" pitchFamily="18" charset="0"/>
                <a:cs typeface="Times New Roman" panose="02020603050405020304" pitchFamily="18" charset="0"/>
              </a:rPr>
              <a:t>Step-3: Dog Identification:</a:t>
            </a:r>
          </a:p>
          <a:p>
            <a:pPr marL="114300" indent="0" algn="just">
              <a:buNone/>
            </a:pPr>
            <a:r>
              <a:rPr lang="en-US" sz="8000" dirty="0">
                <a:latin typeface="Times New Roman" panose="02020603050405020304" pitchFamily="18" charset="0"/>
                <a:cs typeface="Times New Roman" panose="02020603050405020304" pitchFamily="18" charset="0"/>
              </a:rPr>
              <a:t>Use RFID or image recognition to identify and authenticate dogs entering the daycare.</a:t>
            </a:r>
          </a:p>
          <a:p>
            <a:pPr algn="just"/>
            <a:r>
              <a:rPr lang="en-US" sz="8000" b="1" dirty="0">
                <a:latin typeface="Times New Roman" panose="02020603050405020304" pitchFamily="18" charset="0"/>
                <a:cs typeface="Times New Roman" panose="02020603050405020304" pitchFamily="18" charset="0"/>
              </a:rPr>
              <a:t>Step-4: Real-time Monitoring:</a:t>
            </a:r>
          </a:p>
          <a:p>
            <a:pPr marL="114300" indent="0" algn="just">
              <a:buNone/>
            </a:pPr>
            <a:r>
              <a:rPr lang="en-US" sz="8000" dirty="0">
                <a:latin typeface="Times New Roman" panose="02020603050405020304" pitchFamily="18" charset="0"/>
                <a:cs typeface="Times New Roman" panose="02020603050405020304" pitchFamily="18" charset="0"/>
              </a:rPr>
              <a:t>Activate surveillance cameras for live video feed accessible through the mobile app.</a:t>
            </a:r>
          </a:p>
          <a:p>
            <a:pPr algn="just"/>
            <a:r>
              <a:rPr lang="en-US" sz="8000" b="1" dirty="0">
                <a:latin typeface="Times New Roman" panose="02020603050405020304" pitchFamily="18" charset="0"/>
                <a:cs typeface="Times New Roman" panose="02020603050405020304" pitchFamily="18" charset="0"/>
              </a:rPr>
              <a:t>Step-5: Interactive Play:</a:t>
            </a:r>
          </a:p>
          <a:p>
            <a:pPr marL="114300" indent="0" algn="just">
              <a:buNone/>
            </a:pPr>
            <a:r>
              <a:rPr lang="en-US" sz="8000" dirty="0">
                <a:latin typeface="Times New Roman" panose="02020603050405020304" pitchFamily="18" charset="0"/>
                <a:cs typeface="Times New Roman" panose="02020603050405020304" pitchFamily="18" charset="0"/>
              </a:rPr>
              <a:t>Allow remote control of interactive toys through the app for engaging the dogs.</a:t>
            </a:r>
          </a:p>
          <a:p>
            <a:pPr algn="just"/>
            <a:r>
              <a:rPr lang="en-US" sz="8000" b="1" dirty="0">
                <a:latin typeface="Times New Roman" panose="02020603050405020304" pitchFamily="18" charset="0"/>
                <a:cs typeface="Times New Roman" panose="02020603050405020304" pitchFamily="18" charset="0"/>
              </a:rPr>
              <a:t>Step-6: Feeding Schedule:</a:t>
            </a:r>
          </a:p>
          <a:p>
            <a:pPr marL="114300" indent="0" algn="just">
              <a:buNone/>
            </a:pPr>
            <a:r>
              <a:rPr lang="en-US" sz="8000" dirty="0">
                <a:latin typeface="Times New Roman" panose="02020603050405020304" pitchFamily="18" charset="0"/>
                <a:cs typeface="Times New Roman" panose="02020603050405020304" pitchFamily="18" charset="0"/>
              </a:rPr>
              <a:t>Implement a predefined feeding schedule and dispense meals automatically.</a:t>
            </a:r>
          </a:p>
          <a:p>
            <a:pPr algn="just"/>
            <a:endParaRPr lang="en-US" sz="8000" dirty="0">
              <a:latin typeface="Times New Roman" panose="02020603050405020304" pitchFamily="18"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E66DBAAB-713B-938D-B8DE-E74161761CF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spTree>
    <p:extLst>
      <p:ext uri="{BB962C8B-B14F-4D97-AF65-F5344CB8AC3E}">
        <p14:creationId xmlns:p14="http://schemas.microsoft.com/office/powerpoint/2010/main" val="42748816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01932-E4F5-C640-FEB6-8D55D7911D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E49267-1552-7B37-E067-3387AB108F38}"/>
              </a:ext>
            </a:extLst>
          </p:cNvPr>
          <p:cNvSpPr>
            <a:spLocks noGrp="1"/>
          </p:cNvSpPr>
          <p:nvPr>
            <p:ph type="title"/>
          </p:nvPr>
        </p:nvSpPr>
        <p:spPr/>
        <p:txBody>
          <a:bodyPr/>
          <a:lstStyle/>
          <a:p>
            <a:r>
              <a:rPr lang="en-US" b="1" dirty="0"/>
              <a:t>Algorithm</a:t>
            </a:r>
            <a:endParaRPr lang="en-IN" b="1" dirty="0"/>
          </a:p>
        </p:txBody>
      </p:sp>
      <p:sp>
        <p:nvSpPr>
          <p:cNvPr id="3" name="Text Placeholder 2">
            <a:extLst>
              <a:ext uri="{FF2B5EF4-FFF2-40B4-BE49-F238E27FC236}">
                <a16:creationId xmlns:a16="http://schemas.microsoft.com/office/drawing/2014/main" id="{7F83CBAA-C0F1-58A7-CAFC-FF343E82EB6B}"/>
              </a:ext>
            </a:extLst>
          </p:cNvPr>
          <p:cNvSpPr>
            <a:spLocks noGrp="1"/>
          </p:cNvSpPr>
          <p:nvPr>
            <p:ph type="body" idx="1"/>
          </p:nvPr>
        </p:nvSpPr>
        <p:spPr>
          <a:xfrm>
            <a:off x="838200" y="1825625"/>
            <a:ext cx="10515600" cy="4895850"/>
          </a:xfrm>
        </p:spPr>
        <p:txBody>
          <a:bodyPr>
            <a:normAutofit fontScale="25000" lnSpcReduction="20000"/>
          </a:bodyPr>
          <a:lstStyle/>
          <a:p>
            <a:pPr algn="just"/>
            <a:r>
              <a:rPr lang="en-US" sz="8000" b="1" dirty="0">
                <a:latin typeface="Times New Roman" panose="02020603050405020304" pitchFamily="18" charset="0"/>
                <a:cs typeface="Times New Roman" panose="02020603050405020304" pitchFamily="18" charset="0"/>
              </a:rPr>
              <a:t>Step-7: Climate Control:</a:t>
            </a:r>
          </a:p>
          <a:p>
            <a:pPr marL="114300" indent="0" algn="just">
              <a:buNone/>
            </a:pPr>
            <a:r>
              <a:rPr lang="en-US" sz="8000" dirty="0">
                <a:latin typeface="Times New Roman" panose="02020603050405020304" pitchFamily="18" charset="0"/>
                <a:cs typeface="Times New Roman" panose="02020603050405020304" pitchFamily="18" charset="0"/>
              </a:rPr>
              <a:t>Monitor environmental conditions and adjust temperature/humidity as needed.</a:t>
            </a:r>
          </a:p>
          <a:p>
            <a:pPr algn="just"/>
            <a:r>
              <a:rPr lang="en-US" sz="8000" b="1" dirty="0">
                <a:latin typeface="Times New Roman" panose="02020603050405020304" pitchFamily="18" charset="0"/>
                <a:cs typeface="Times New Roman" panose="02020603050405020304" pitchFamily="18" charset="0"/>
              </a:rPr>
              <a:t>Step-8 :  Health Monitoring:</a:t>
            </a:r>
          </a:p>
          <a:p>
            <a:pPr marL="114300" indent="0" algn="just">
              <a:buNone/>
            </a:pPr>
            <a:r>
              <a:rPr lang="en-US" sz="8000" dirty="0">
                <a:latin typeface="Times New Roman" panose="02020603050405020304" pitchFamily="18" charset="0"/>
                <a:cs typeface="Times New Roman" panose="02020603050405020304" pitchFamily="18" charset="0"/>
              </a:rPr>
              <a:t>Utilize sensors to track vital signs, activity levels, and detect anomalies.</a:t>
            </a:r>
          </a:p>
          <a:p>
            <a:pPr algn="just"/>
            <a:r>
              <a:rPr lang="en-US" sz="8000" b="1" dirty="0">
                <a:latin typeface="Times New Roman" panose="02020603050405020304" pitchFamily="18" charset="0"/>
                <a:cs typeface="Times New Roman" panose="02020603050405020304" pitchFamily="18" charset="0"/>
              </a:rPr>
              <a:t>Step-9: Emergency Alerts:</a:t>
            </a:r>
          </a:p>
          <a:p>
            <a:pPr marL="114300" indent="0" algn="just">
              <a:buNone/>
            </a:pPr>
            <a:r>
              <a:rPr lang="en-US" sz="8000" dirty="0">
                <a:latin typeface="Times New Roman" panose="02020603050405020304" pitchFamily="18" charset="0"/>
                <a:cs typeface="Times New Roman" panose="02020603050405020304" pitchFamily="18" charset="0"/>
              </a:rPr>
              <a:t>Send immediate alerts to the owner and designated contacts in case of health emergencies.</a:t>
            </a:r>
          </a:p>
          <a:p>
            <a:pPr algn="just"/>
            <a:r>
              <a:rPr lang="en-US" sz="8000" b="1" dirty="0">
                <a:latin typeface="Times New Roman" panose="02020603050405020304" pitchFamily="18" charset="0"/>
                <a:cs typeface="Times New Roman" panose="02020603050405020304" pitchFamily="18" charset="0"/>
              </a:rPr>
              <a:t>Step-10: Security Measures:</a:t>
            </a:r>
          </a:p>
          <a:p>
            <a:pPr marL="114300" indent="0" algn="just">
              <a:buNone/>
            </a:pPr>
            <a:r>
              <a:rPr lang="en-US" sz="8000" dirty="0">
                <a:latin typeface="Times New Roman" panose="02020603050405020304" pitchFamily="18" charset="0"/>
                <a:cs typeface="Times New Roman" panose="02020603050405020304" pitchFamily="18" charset="0"/>
              </a:rPr>
              <a:t>Enable surveillance and motion sensors to detect unauthorized access or intruders.</a:t>
            </a:r>
          </a:p>
          <a:p>
            <a:pPr algn="just"/>
            <a:r>
              <a:rPr lang="en-US" sz="8000" b="1" dirty="0">
                <a:latin typeface="Times New Roman" panose="02020603050405020304" pitchFamily="18" charset="0"/>
                <a:cs typeface="Times New Roman" panose="02020603050405020304" pitchFamily="18" charset="0"/>
              </a:rPr>
              <a:t>Step-11:Socialization Assistance:</a:t>
            </a:r>
          </a:p>
          <a:p>
            <a:pPr marL="114300" indent="0" algn="just">
              <a:buNone/>
            </a:pPr>
            <a:r>
              <a:rPr lang="en-US" sz="8000" dirty="0">
                <a:latin typeface="Times New Roman" panose="02020603050405020304" pitchFamily="18" charset="0"/>
                <a:cs typeface="Times New Roman" panose="02020603050405020304" pitchFamily="18" charset="0"/>
              </a:rPr>
              <a:t>Facilitate controlled introductions between dogs to encourage positive social interactions.</a:t>
            </a:r>
          </a:p>
          <a:p>
            <a:pPr algn="just"/>
            <a:r>
              <a:rPr lang="en-US" sz="8000" b="1" dirty="0">
                <a:latin typeface="Times New Roman" panose="02020603050405020304" pitchFamily="18" charset="0"/>
                <a:cs typeface="Times New Roman" panose="02020603050405020304" pitchFamily="18" charset="0"/>
              </a:rPr>
              <a:t>Step-12:Customization Options:</a:t>
            </a:r>
          </a:p>
          <a:p>
            <a:pPr marL="114300" indent="0" algn="just">
              <a:buNone/>
            </a:pPr>
            <a:r>
              <a:rPr lang="en-US" sz="8000" dirty="0">
                <a:latin typeface="Times New Roman" panose="02020603050405020304" pitchFamily="18" charset="0"/>
                <a:cs typeface="Times New Roman" panose="02020603050405020304" pitchFamily="18" charset="0"/>
              </a:rPr>
              <a:t>Allow owners to customize preferences for activities, feeding, and environmental settings.</a:t>
            </a:r>
          </a:p>
          <a:p>
            <a:endParaRPr lang="en-IN" dirty="0"/>
          </a:p>
        </p:txBody>
      </p:sp>
      <p:sp>
        <p:nvSpPr>
          <p:cNvPr id="4" name="Slide Number Placeholder 3">
            <a:extLst>
              <a:ext uri="{FF2B5EF4-FFF2-40B4-BE49-F238E27FC236}">
                <a16:creationId xmlns:a16="http://schemas.microsoft.com/office/drawing/2014/main" id="{2F95D0F2-32EF-78BB-68C8-F07761106AF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spTree>
    <p:extLst>
      <p:ext uri="{BB962C8B-B14F-4D97-AF65-F5344CB8AC3E}">
        <p14:creationId xmlns:p14="http://schemas.microsoft.com/office/powerpoint/2010/main" val="18162309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BB730-B359-4D5F-2088-0502E2FEB4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C27CA3-7636-9072-0626-688A762EA37E}"/>
              </a:ext>
            </a:extLst>
          </p:cNvPr>
          <p:cNvSpPr>
            <a:spLocks noGrp="1"/>
          </p:cNvSpPr>
          <p:nvPr>
            <p:ph type="title"/>
          </p:nvPr>
        </p:nvSpPr>
        <p:spPr/>
        <p:txBody>
          <a:bodyPr/>
          <a:lstStyle/>
          <a:p>
            <a:r>
              <a:rPr lang="en-US" b="1" dirty="0"/>
              <a:t>Algorithm</a:t>
            </a:r>
            <a:endParaRPr lang="en-IN" b="1" dirty="0"/>
          </a:p>
        </p:txBody>
      </p:sp>
      <p:sp>
        <p:nvSpPr>
          <p:cNvPr id="3" name="Text Placeholder 2">
            <a:extLst>
              <a:ext uri="{FF2B5EF4-FFF2-40B4-BE49-F238E27FC236}">
                <a16:creationId xmlns:a16="http://schemas.microsoft.com/office/drawing/2014/main" id="{8E59B576-F317-960C-94F2-027EFCE7DA98}"/>
              </a:ext>
            </a:extLst>
          </p:cNvPr>
          <p:cNvSpPr>
            <a:spLocks noGrp="1"/>
          </p:cNvSpPr>
          <p:nvPr>
            <p:ph type="body" idx="1"/>
          </p:nvPr>
        </p:nvSpPr>
        <p:spPr>
          <a:xfrm>
            <a:off x="838200" y="1825625"/>
            <a:ext cx="10515600" cy="4895850"/>
          </a:xfrm>
        </p:spPr>
        <p:txBody>
          <a:bodyPr>
            <a:normAutofit fontScale="25000" lnSpcReduction="20000"/>
          </a:bodyPr>
          <a:lstStyle/>
          <a:p>
            <a:pPr algn="just"/>
            <a:r>
              <a:rPr lang="en-US" sz="8000" b="1" dirty="0">
                <a:latin typeface="Times New Roman" panose="02020603050405020304" pitchFamily="18" charset="0"/>
                <a:cs typeface="Times New Roman" panose="02020603050405020304" pitchFamily="18" charset="0"/>
              </a:rPr>
              <a:t>Step-13: Communication Hub:</a:t>
            </a:r>
          </a:p>
          <a:p>
            <a:pPr marL="114300" indent="0" algn="just">
              <a:buNone/>
            </a:pPr>
            <a:r>
              <a:rPr lang="en-US" sz="8000" dirty="0">
                <a:latin typeface="Times New Roman" panose="02020603050405020304" pitchFamily="18" charset="0"/>
                <a:cs typeface="Times New Roman" panose="02020603050405020304" pitchFamily="18" charset="0"/>
              </a:rPr>
              <a:t>Establish a communication channel between owners, daycare staff, and other users.</a:t>
            </a:r>
          </a:p>
          <a:p>
            <a:pPr algn="just"/>
            <a:r>
              <a:rPr lang="en-US" sz="8000" b="1" dirty="0">
                <a:latin typeface="Times New Roman" panose="02020603050405020304" pitchFamily="18" charset="0"/>
                <a:cs typeface="Times New Roman" panose="02020603050405020304" pitchFamily="18" charset="0"/>
              </a:rPr>
              <a:t>Step-14 :  Data Analytics:</a:t>
            </a:r>
          </a:p>
          <a:p>
            <a:pPr marL="114300" indent="0" algn="just">
              <a:buNone/>
            </a:pPr>
            <a:r>
              <a:rPr lang="en-US" sz="8000" dirty="0">
                <a:latin typeface="Times New Roman" panose="02020603050405020304" pitchFamily="18" charset="0"/>
                <a:cs typeface="Times New Roman" panose="02020603050405020304" pitchFamily="18" charset="0"/>
              </a:rPr>
              <a:t>Collect and analyze data on dog behavior, preferences, and health trends.</a:t>
            </a:r>
          </a:p>
          <a:p>
            <a:pPr algn="just"/>
            <a:r>
              <a:rPr lang="en-US" sz="8000" b="1" dirty="0">
                <a:latin typeface="Times New Roman" panose="02020603050405020304" pitchFamily="18" charset="0"/>
                <a:cs typeface="Times New Roman" panose="02020603050405020304" pitchFamily="18" charset="0"/>
              </a:rPr>
              <a:t>Step-15: Automated Cleaning:</a:t>
            </a:r>
          </a:p>
          <a:p>
            <a:pPr marL="114300" indent="0" algn="just">
              <a:buNone/>
            </a:pPr>
            <a:r>
              <a:rPr lang="en-US" sz="8000" dirty="0">
                <a:latin typeface="Times New Roman" panose="02020603050405020304" pitchFamily="18" charset="0"/>
                <a:cs typeface="Times New Roman" panose="02020603050405020304" pitchFamily="18" charset="0"/>
              </a:rPr>
              <a:t>Implement a scheduled cleaning routine for maintaining a hygienic environment.</a:t>
            </a:r>
          </a:p>
          <a:p>
            <a:pPr algn="just"/>
            <a:r>
              <a:rPr lang="en-US" sz="8000" b="1" dirty="0">
                <a:latin typeface="Times New Roman" panose="02020603050405020304" pitchFamily="18" charset="0"/>
                <a:cs typeface="Times New Roman" panose="02020603050405020304" pitchFamily="18" charset="0"/>
              </a:rPr>
              <a:t>Step-16: Energy Management:</a:t>
            </a:r>
          </a:p>
          <a:p>
            <a:pPr marL="114300" indent="0" algn="just">
              <a:buNone/>
            </a:pPr>
            <a:r>
              <a:rPr lang="en-US" sz="8000" dirty="0">
                <a:latin typeface="Times New Roman" panose="02020603050405020304" pitchFamily="18" charset="0"/>
                <a:cs typeface="Times New Roman" panose="02020603050405020304" pitchFamily="18" charset="0"/>
              </a:rPr>
              <a:t>Optimize energy usage through smart sensors and power-saving algorithms.</a:t>
            </a:r>
          </a:p>
          <a:p>
            <a:pPr algn="just"/>
            <a:r>
              <a:rPr lang="en-US" sz="8000" b="1" dirty="0">
                <a:latin typeface="Times New Roman" panose="02020603050405020304" pitchFamily="18" charset="0"/>
                <a:cs typeface="Times New Roman" panose="02020603050405020304" pitchFamily="18" charset="0"/>
              </a:rPr>
              <a:t>Step-17:Remote Diagnostics:</a:t>
            </a:r>
          </a:p>
          <a:p>
            <a:pPr marL="114300" indent="0" algn="just">
              <a:buNone/>
            </a:pPr>
            <a:r>
              <a:rPr lang="en-US" sz="8000" dirty="0">
                <a:latin typeface="Times New Roman" panose="02020603050405020304" pitchFamily="18" charset="0"/>
                <a:cs typeface="Times New Roman" panose="02020603050405020304" pitchFamily="18" charset="0"/>
              </a:rPr>
              <a:t>Enable remote diagnostic capabilities for troubleshooting and maintenance.</a:t>
            </a:r>
          </a:p>
          <a:p>
            <a:pPr algn="just"/>
            <a:r>
              <a:rPr lang="en-US" sz="8000" b="1" dirty="0">
                <a:latin typeface="Times New Roman" panose="02020603050405020304" pitchFamily="18" charset="0"/>
                <a:cs typeface="Times New Roman" panose="02020603050405020304" pitchFamily="18" charset="0"/>
              </a:rPr>
              <a:t>Step-18:User Feedback Loop:</a:t>
            </a:r>
          </a:p>
          <a:p>
            <a:pPr marL="114300" indent="0" algn="just">
              <a:buNone/>
            </a:pPr>
            <a:r>
              <a:rPr lang="en-US" sz="8000" dirty="0">
                <a:latin typeface="Times New Roman" panose="02020603050405020304" pitchFamily="18" charset="0"/>
                <a:cs typeface="Times New Roman" panose="02020603050405020304" pitchFamily="18" charset="0"/>
              </a:rPr>
              <a:t>Gather user feedback through the app to continuously improve the system.</a:t>
            </a:r>
          </a:p>
        </p:txBody>
      </p:sp>
      <p:sp>
        <p:nvSpPr>
          <p:cNvPr id="4" name="Slide Number Placeholder 3">
            <a:extLst>
              <a:ext uri="{FF2B5EF4-FFF2-40B4-BE49-F238E27FC236}">
                <a16:creationId xmlns:a16="http://schemas.microsoft.com/office/drawing/2014/main" id="{FCC709EB-29A6-3B1A-3E15-9B45A059B4A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spTree>
    <p:extLst>
      <p:ext uri="{BB962C8B-B14F-4D97-AF65-F5344CB8AC3E}">
        <p14:creationId xmlns:p14="http://schemas.microsoft.com/office/powerpoint/2010/main" val="2383587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3D74C-BE39-E2B7-1A2C-09A7E31996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B39C31-5BC6-D6C1-8085-D804A1ED9B57}"/>
              </a:ext>
            </a:extLst>
          </p:cNvPr>
          <p:cNvSpPr>
            <a:spLocks noGrp="1"/>
          </p:cNvSpPr>
          <p:nvPr>
            <p:ph type="title"/>
          </p:nvPr>
        </p:nvSpPr>
        <p:spPr/>
        <p:txBody>
          <a:bodyPr/>
          <a:lstStyle/>
          <a:p>
            <a:r>
              <a:rPr lang="en-US" b="1" dirty="0"/>
              <a:t>Algorithm</a:t>
            </a:r>
            <a:endParaRPr lang="en-IN" b="1" dirty="0"/>
          </a:p>
        </p:txBody>
      </p:sp>
      <p:sp>
        <p:nvSpPr>
          <p:cNvPr id="3" name="Text Placeholder 2">
            <a:extLst>
              <a:ext uri="{FF2B5EF4-FFF2-40B4-BE49-F238E27FC236}">
                <a16:creationId xmlns:a16="http://schemas.microsoft.com/office/drawing/2014/main" id="{438D0D41-CFA1-C1C5-1D66-6C3D48203EA2}"/>
              </a:ext>
            </a:extLst>
          </p:cNvPr>
          <p:cNvSpPr>
            <a:spLocks noGrp="1"/>
          </p:cNvSpPr>
          <p:nvPr>
            <p:ph type="body" idx="1"/>
          </p:nvPr>
        </p:nvSpPr>
        <p:spPr>
          <a:xfrm>
            <a:off x="838200" y="1825625"/>
            <a:ext cx="10515600" cy="4895850"/>
          </a:xfrm>
        </p:spPr>
        <p:txBody>
          <a:bodyPr>
            <a:normAutofit/>
          </a:bodyPr>
          <a:lstStyle/>
          <a:p>
            <a:pPr algn="just"/>
            <a:r>
              <a:rPr lang="en-US" sz="2000" b="1" dirty="0">
                <a:latin typeface="Times New Roman" panose="02020603050405020304" pitchFamily="18" charset="0"/>
                <a:cs typeface="Times New Roman" panose="02020603050405020304" pitchFamily="18" charset="0"/>
              </a:rPr>
              <a:t>Step-19: Shutdown Procedure:</a:t>
            </a:r>
          </a:p>
          <a:p>
            <a:pPr marL="114300" indent="0" algn="just">
              <a:buNone/>
            </a:pPr>
            <a:r>
              <a:rPr lang="en-US" sz="2000" dirty="0">
                <a:latin typeface="Times New Roman" panose="02020603050405020304" pitchFamily="18" charset="0"/>
                <a:cs typeface="Times New Roman" panose="02020603050405020304" pitchFamily="18" charset="0"/>
              </a:rPr>
              <a:t>Execute a secure shutdown process when the daycare hours end or on user request.</a:t>
            </a:r>
          </a:p>
          <a:p>
            <a:pPr algn="just"/>
            <a:r>
              <a:rPr lang="en-US" sz="2000" b="1" dirty="0">
                <a:latin typeface="Times New Roman" panose="02020603050405020304" pitchFamily="18" charset="0"/>
                <a:cs typeface="Times New Roman" panose="02020603050405020304" pitchFamily="18" charset="0"/>
              </a:rPr>
              <a:t>Step-20 :Logs and Reports:</a:t>
            </a:r>
          </a:p>
          <a:p>
            <a:pPr marL="114300" indent="0" algn="just">
              <a:buNone/>
            </a:pPr>
            <a:r>
              <a:rPr lang="en-US" sz="2000" dirty="0">
                <a:latin typeface="Times New Roman" panose="02020603050405020304" pitchFamily="18" charset="0"/>
                <a:cs typeface="Times New Roman" panose="02020603050405020304" pitchFamily="18" charset="0"/>
              </a:rPr>
              <a:t>Generate logs and reports for monitoring system performance, dog activities, and health metrics.</a:t>
            </a:r>
          </a:p>
        </p:txBody>
      </p:sp>
      <p:sp>
        <p:nvSpPr>
          <p:cNvPr id="4" name="Slide Number Placeholder 3">
            <a:extLst>
              <a:ext uri="{FF2B5EF4-FFF2-40B4-BE49-F238E27FC236}">
                <a16:creationId xmlns:a16="http://schemas.microsoft.com/office/drawing/2014/main" id="{1BDB90FA-2F00-C2B8-6C96-CB4F4739325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spTree>
    <p:extLst>
      <p:ext uri="{BB962C8B-B14F-4D97-AF65-F5344CB8AC3E}">
        <p14:creationId xmlns:p14="http://schemas.microsoft.com/office/powerpoint/2010/main" val="14009936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6B839-4C25-4F71-9F77-297444A872E2}"/>
              </a:ext>
            </a:extLst>
          </p:cNvPr>
          <p:cNvSpPr>
            <a:spLocks noGrp="1"/>
          </p:cNvSpPr>
          <p:nvPr>
            <p:ph type="title"/>
          </p:nvPr>
        </p:nvSpPr>
        <p:spPr/>
        <p:txBody>
          <a:bodyPr/>
          <a:lstStyle/>
          <a:p>
            <a:r>
              <a:rPr lang="en-US" b="1" dirty="0"/>
              <a:t>Testing and Results</a:t>
            </a:r>
            <a:endParaRPr lang="en-IN" b="1" dirty="0"/>
          </a:p>
        </p:txBody>
      </p:sp>
      <p:sp>
        <p:nvSpPr>
          <p:cNvPr id="3" name="Text Placeholder 2">
            <a:extLst>
              <a:ext uri="{FF2B5EF4-FFF2-40B4-BE49-F238E27FC236}">
                <a16:creationId xmlns:a16="http://schemas.microsoft.com/office/drawing/2014/main" id="{EFC8BDD4-030C-325A-9318-D091E2CD6003}"/>
              </a:ext>
            </a:extLst>
          </p:cNvPr>
          <p:cNvSpPr>
            <a:spLocks noGrp="1"/>
          </p:cNvSpPr>
          <p:nvPr>
            <p:ph type="body" idx="1"/>
          </p:nvPr>
        </p:nvSpPr>
        <p:spPr>
          <a:xfrm>
            <a:off x="838200" y="1825625"/>
            <a:ext cx="7308273" cy="4351338"/>
          </a:xfrm>
        </p:spPr>
        <p:txBody>
          <a:bodyPr>
            <a:normAutofit fontScale="92500" lnSpcReduction="10000"/>
          </a:bodyPr>
          <a:lstStyle/>
          <a:p>
            <a:pPr algn="just"/>
            <a:r>
              <a:rPr lang="en-US" sz="2200" dirty="0">
                <a:latin typeface="Times New Roman" panose="02020603050405020304" pitchFamily="18" charset="0"/>
                <a:cs typeface="Times New Roman" panose="02020603050405020304" pitchFamily="18" charset="0"/>
              </a:rPr>
              <a:t>Field testing of the finished product was a success, and we got the  learning opportunity. The final design of the pet food feeder is shown in  Fig. 6. The mechanism used in the pet feeder is rotational to linear  motion. The wheels and gear motor assembly are installed between the  component's base part. The robot pet food feeder works efficiently and  fulfils the objective of feeding pets without its master. The servomotor  rotates the propeller, and food gets delivered to the plate according to  master mobile control. The whole system is connected to the mobile  phone via the internet. The entire real-time data is transmitted to data  base and mobile web application.</a:t>
            </a:r>
          </a:p>
          <a:p>
            <a:pPr algn="just"/>
            <a:r>
              <a:rPr lang="en-US" sz="2200" dirty="0">
                <a:latin typeface="Times New Roman" panose="02020603050405020304" pitchFamily="18" charset="0"/>
                <a:cs typeface="Times New Roman" panose="02020603050405020304" pitchFamily="18" charset="0"/>
              </a:rPr>
              <a:t>Also, we develop the client-side web base application for controlling  the robot. We used HTML and CSS to create front end of web application.  The camara video and robot control keys on the front of web application.  Below is Fig. 7. of this demo application</a:t>
            </a:r>
          </a:p>
          <a:p>
            <a:endParaRPr lang="en-IN" dirty="0"/>
          </a:p>
        </p:txBody>
      </p:sp>
      <p:sp>
        <p:nvSpPr>
          <p:cNvPr id="4" name="Slide Number Placeholder 3">
            <a:extLst>
              <a:ext uri="{FF2B5EF4-FFF2-40B4-BE49-F238E27FC236}">
                <a16:creationId xmlns:a16="http://schemas.microsoft.com/office/drawing/2014/main" id="{C1B4DC51-F2F1-4BE4-A7AB-6FBA2096EF4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27</a:t>
            </a:fld>
            <a:endParaRPr lang="en-US"/>
          </a:p>
        </p:txBody>
      </p:sp>
      <p:pic>
        <p:nvPicPr>
          <p:cNvPr id="5" name="object 5">
            <a:extLst>
              <a:ext uri="{FF2B5EF4-FFF2-40B4-BE49-F238E27FC236}">
                <a16:creationId xmlns:a16="http://schemas.microsoft.com/office/drawing/2014/main" id="{B9297819-83AB-B495-3995-AB117414964E}"/>
              </a:ext>
            </a:extLst>
          </p:cNvPr>
          <p:cNvPicPr/>
          <p:nvPr/>
        </p:nvPicPr>
        <p:blipFill>
          <a:blip r:embed="rId2" cstate="print"/>
          <a:stretch>
            <a:fillRect/>
          </a:stretch>
        </p:blipFill>
        <p:spPr>
          <a:xfrm>
            <a:off x="8677102" y="2448638"/>
            <a:ext cx="3209979" cy="3312081"/>
          </a:xfrm>
          <a:prstGeom prst="rect">
            <a:avLst/>
          </a:prstGeom>
        </p:spPr>
      </p:pic>
    </p:spTree>
    <p:extLst>
      <p:ext uri="{BB962C8B-B14F-4D97-AF65-F5344CB8AC3E}">
        <p14:creationId xmlns:p14="http://schemas.microsoft.com/office/powerpoint/2010/main" val="13880639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6B839-4C25-4F71-9F77-297444A872E2}"/>
              </a:ext>
            </a:extLst>
          </p:cNvPr>
          <p:cNvSpPr>
            <a:spLocks noGrp="1"/>
          </p:cNvSpPr>
          <p:nvPr>
            <p:ph type="title"/>
          </p:nvPr>
        </p:nvSpPr>
        <p:spPr/>
        <p:txBody>
          <a:bodyPr/>
          <a:lstStyle/>
          <a:p>
            <a:r>
              <a:rPr lang="en-US" b="1" dirty="0"/>
              <a:t>Testing and Results</a:t>
            </a:r>
            <a:endParaRPr lang="en-IN" b="1" dirty="0"/>
          </a:p>
        </p:txBody>
      </p:sp>
      <p:sp>
        <p:nvSpPr>
          <p:cNvPr id="3" name="Text Placeholder 2">
            <a:extLst>
              <a:ext uri="{FF2B5EF4-FFF2-40B4-BE49-F238E27FC236}">
                <a16:creationId xmlns:a16="http://schemas.microsoft.com/office/drawing/2014/main" id="{EFC8BDD4-030C-325A-9318-D091E2CD6003}"/>
              </a:ext>
            </a:extLst>
          </p:cNvPr>
          <p:cNvSpPr>
            <a:spLocks noGrp="1"/>
          </p:cNvSpPr>
          <p:nvPr>
            <p:ph type="body" idx="1"/>
          </p:nvPr>
        </p:nvSpPr>
        <p:spPr>
          <a:xfrm>
            <a:off x="838200" y="1825625"/>
            <a:ext cx="7308273" cy="4351338"/>
          </a:xfrm>
        </p:spPr>
        <p:txBody>
          <a:bodyPr>
            <a:normAutofit/>
          </a:bodyPr>
          <a:lstStyle/>
          <a:p>
            <a:endParaRPr lang="en-IN" dirty="0"/>
          </a:p>
        </p:txBody>
      </p:sp>
      <p:sp>
        <p:nvSpPr>
          <p:cNvPr id="4" name="Slide Number Placeholder 3">
            <a:extLst>
              <a:ext uri="{FF2B5EF4-FFF2-40B4-BE49-F238E27FC236}">
                <a16:creationId xmlns:a16="http://schemas.microsoft.com/office/drawing/2014/main" id="{C1B4DC51-F2F1-4BE4-A7AB-6FBA2096EF4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28</a:t>
            </a:fld>
            <a:endParaRPr lang="en-US"/>
          </a:p>
        </p:txBody>
      </p:sp>
      <p:pic>
        <p:nvPicPr>
          <p:cNvPr id="7" name="Picture 6">
            <a:extLst>
              <a:ext uri="{FF2B5EF4-FFF2-40B4-BE49-F238E27FC236}">
                <a16:creationId xmlns:a16="http://schemas.microsoft.com/office/drawing/2014/main" id="{40054F4C-677E-0F9E-EBBF-3897C8D3A498}"/>
              </a:ext>
            </a:extLst>
          </p:cNvPr>
          <p:cNvPicPr>
            <a:picLocks noChangeAspect="1"/>
          </p:cNvPicPr>
          <p:nvPr/>
        </p:nvPicPr>
        <p:blipFill>
          <a:blip r:embed="rId2"/>
          <a:stretch>
            <a:fillRect/>
          </a:stretch>
        </p:blipFill>
        <p:spPr>
          <a:xfrm>
            <a:off x="838200" y="1936453"/>
            <a:ext cx="3576749" cy="4709443"/>
          </a:xfrm>
          <a:prstGeom prst="rect">
            <a:avLst/>
          </a:prstGeom>
        </p:spPr>
      </p:pic>
      <p:pic>
        <p:nvPicPr>
          <p:cNvPr id="9" name="Picture 8">
            <a:extLst>
              <a:ext uri="{FF2B5EF4-FFF2-40B4-BE49-F238E27FC236}">
                <a16:creationId xmlns:a16="http://schemas.microsoft.com/office/drawing/2014/main" id="{E4A2FC42-7B59-B9C9-9BAA-3CE201DC7791}"/>
              </a:ext>
            </a:extLst>
          </p:cNvPr>
          <p:cNvPicPr>
            <a:picLocks noChangeAspect="1"/>
          </p:cNvPicPr>
          <p:nvPr/>
        </p:nvPicPr>
        <p:blipFill>
          <a:blip r:embed="rId3"/>
          <a:stretch>
            <a:fillRect/>
          </a:stretch>
        </p:blipFill>
        <p:spPr>
          <a:xfrm>
            <a:off x="5729872" y="1898391"/>
            <a:ext cx="4252328" cy="4594484"/>
          </a:xfrm>
          <a:prstGeom prst="rect">
            <a:avLst/>
          </a:prstGeom>
        </p:spPr>
      </p:pic>
    </p:spTree>
    <p:extLst>
      <p:ext uri="{BB962C8B-B14F-4D97-AF65-F5344CB8AC3E}">
        <p14:creationId xmlns:p14="http://schemas.microsoft.com/office/powerpoint/2010/main" val="25566358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B746C-3BF1-F1D4-FF57-20BAB32E0797}"/>
              </a:ext>
            </a:extLst>
          </p:cNvPr>
          <p:cNvSpPr>
            <a:spLocks noGrp="1"/>
          </p:cNvSpPr>
          <p:nvPr>
            <p:ph type="title"/>
          </p:nvPr>
        </p:nvSpPr>
        <p:spPr/>
        <p:txBody>
          <a:bodyPr/>
          <a:lstStyle/>
          <a:p>
            <a:r>
              <a:rPr lang="en-US" b="1" dirty="0"/>
              <a:t>Conclusion</a:t>
            </a:r>
            <a:endParaRPr lang="en-IN" b="1" dirty="0"/>
          </a:p>
        </p:txBody>
      </p:sp>
      <p:sp>
        <p:nvSpPr>
          <p:cNvPr id="3" name="Text Placeholder 2">
            <a:extLst>
              <a:ext uri="{FF2B5EF4-FFF2-40B4-BE49-F238E27FC236}">
                <a16:creationId xmlns:a16="http://schemas.microsoft.com/office/drawing/2014/main" id="{6BD4259E-FA76-5399-25B4-7EC57CEE8661}"/>
              </a:ext>
            </a:extLst>
          </p:cNvPr>
          <p:cNvSpPr>
            <a:spLocks noGrp="1"/>
          </p:cNvSpPr>
          <p:nvPr>
            <p:ph type="body" idx="1"/>
          </p:nvPr>
        </p:nvSpPr>
        <p:spPr/>
        <p:txBody>
          <a:bodyPr>
            <a:normAutofit fontScale="62500" lnSpcReduction="20000"/>
          </a:bodyPr>
          <a:lstStyle/>
          <a:p>
            <a:pPr algn="just"/>
            <a:r>
              <a:rPr lang="en-US" dirty="0">
                <a:latin typeface="Times New Roman" panose="02020603050405020304" pitchFamily="18" charset="0"/>
                <a:cs typeface="Times New Roman" panose="02020603050405020304" pitchFamily="18" charset="0"/>
              </a:rPr>
              <a:t>This paper introduces the design and implementation of pet food  feeder robot based on IoT technology. Modern world people have their  busy life, and they enjoy with pets. Nowadays, we can see many new  devices invented with the aid of IoT. We believe IoT can also change the  pattern of the existing structure of pet food feeder robots. In this paper,  we describe and implement a new pet food feeder robot that can feed the  pets while the owners are absent from their homes and monitor their  movement and provide their foods through the owner’s smartphones or  devices. The implemented system is distinctive from others in that the  proposed method is based on IoT, which uses many sensors and wireless  communications.</a:t>
            </a:r>
          </a:p>
          <a:p>
            <a:pPr algn="just"/>
            <a:r>
              <a:rPr lang="en-US" dirty="0">
                <a:latin typeface="Times New Roman" panose="02020603050405020304" pitchFamily="18" charset="0"/>
                <a:cs typeface="Times New Roman" panose="02020603050405020304" pitchFamily="18" charset="0"/>
              </a:rPr>
              <a:t>The IoT-based pet food feeder is a helping hand as it works  efficiently in the absence of its own. It helps to develop creativity in Crating projects and modify existing projects to be more energy efficient  with new fabrication methods through this system.</a:t>
            </a:r>
          </a:p>
          <a:p>
            <a:pPr algn="just"/>
            <a:r>
              <a:rPr lang="en-US" dirty="0">
                <a:latin typeface="Times New Roman" panose="02020603050405020304" pitchFamily="18" charset="0"/>
                <a:cs typeface="Times New Roman" panose="02020603050405020304" pitchFamily="18" charset="0"/>
              </a:rPr>
              <a:t>This pet food feeder Innovation makes it easy for consumers to feed their pets and will not  leave their pets hungry again. </a:t>
            </a:r>
          </a:p>
          <a:p>
            <a:pPr algn="just"/>
            <a:r>
              <a:rPr lang="en-US" dirty="0">
                <a:latin typeface="Times New Roman" panose="02020603050405020304" pitchFamily="18" charset="0"/>
                <a:cs typeface="Times New Roman" panose="02020603050405020304" pitchFamily="18" charset="0"/>
              </a:rPr>
              <a:t>This automatic pet feeder we developed helps give pets smaller, more frequent meals, which is helpful for weight  loss and managing medical disorders such as diabetes. </a:t>
            </a:r>
          </a:p>
          <a:p>
            <a:pPr algn="just"/>
            <a:r>
              <a:rPr lang="en-US" dirty="0">
                <a:latin typeface="Times New Roman" panose="02020603050405020304" pitchFamily="18" charset="0"/>
                <a:cs typeface="Times New Roman" panose="02020603050405020304" pitchFamily="18" charset="0"/>
              </a:rPr>
              <a:t>Adequate food Intake benefits weight loss and drives medical conditions such as Diabetes.</a:t>
            </a:r>
          </a:p>
          <a:p>
            <a:pPr algn="just"/>
            <a:r>
              <a:rPr lang="en-US" dirty="0">
                <a:latin typeface="Times New Roman" panose="02020603050405020304" pitchFamily="18" charset="0"/>
                <a:cs typeface="Times New Roman" panose="02020603050405020304" pitchFamily="18" charset="0"/>
              </a:rPr>
              <a:t>When exposed to outside animals, animals or pests cannot  damage the remaining food. The future can develop a mobile app for  monitoring data and controlling the robot.</a:t>
            </a:r>
          </a:p>
          <a:p>
            <a:endParaRPr lang="en-IN" dirty="0"/>
          </a:p>
        </p:txBody>
      </p:sp>
      <p:sp>
        <p:nvSpPr>
          <p:cNvPr id="4" name="Slide Number Placeholder 3">
            <a:extLst>
              <a:ext uri="{FF2B5EF4-FFF2-40B4-BE49-F238E27FC236}">
                <a16:creationId xmlns:a16="http://schemas.microsoft.com/office/drawing/2014/main" id="{9FDB94B1-BC7F-008A-88B6-FEC52D428CC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29</a:t>
            </a:fld>
            <a:endParaRPr lang="en-US"/>
          </a:p>
        </p:txBody>
      </p:sp>
    </p:spTree>
    <p:extLst>
      <p:ext uri="{BB962C8B-B14F-4D97-AF65-F5344CB8AC3E}">
        <p14:creationId xmlns:p14="http://schemas.microsoft.com/office/powerpoint/2010/main" val="14962758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6B853-DCE0-5D35-8765-C75F5279036E}"/>
              </a:ext>
            </a:extLst>
          </p:cNvPr>
          <p:cNvSpPr>
            <a:spLocks noGrp="1"/>
          </p:cNvSpPr>
          <p:nvPr>
            <p:ph type="title"/>
          </p:nvPr>
        </p:nvSpPr>
        <p:spPr/>
        <p:txBody>
          <a:bodyPr/>
          <a:lstStyle/>
          <a:p>
            <a:r>
              <a:rPr lang="en-US" b="1" dirty="0"/>
              <a:t>References</a:t>
            </a:r>
            <a:endParaRPr lang="en-IN" b="1" dirty="0"/>
          </a:p>
        </p:txBody>
      </p:sp>
      <p:sp>
        <p:nvSpPr>
          <p:cNvPr id="3" name="Text Placeholder 2">
            <a:extLst>
              <a:ext uri="{FF2B5EF4-FFF2-40B4-BE49-F238E27FC236}">
                <a16:creationId xmlns:a16="http://schemas.microsoft.com/office/drawing/2014/main" id="{FD4485D6-4C2D-9517-F6B0-9CA3CC3A3086}"/>
              </a:ext>
            </a:extLst>
          </p:cNvPr>
          <p:cNvSpPr>
            <a:spLocks noGrp="1"/>
          </p:cNvSpPr>
          <p:nvPr>
            <p:ph type="body" idx="1"/>
          </p:nvPr>
        </p:nvSpPr>
        <p:spPr>
          <a:xfrm>
            <a:off x="838200" y="1825624"/>
            <a:ext cx="10515600" cy="5032375"/>
          </a:xfrm>
        </p:spPr>
        <p:txBody>
          <a:bodyPr>
            <a:normAutofit fontScale="62500" lnSpcReduction="20000"/>
          </a:bodyPr>
          <a:lstStyle/>
          <a:p>
            <a:pPr algn="just"/>
            <a:r>
              <a:rPr lang="en-IN" dirty="0">
                <a:latin typeface="Times New Roman" panose="02020603050405020304" pitchFamily="18" charset="0"/>
                <a:cs typeface="Times New Roman" panose="02020603050405020304" pitchFamily="18" charset="0"/>
              </a:rPr>
              <a:t>[</a:t>
            </a:r>
            <a:r>
              <a:rPr lang="en-IN" sz="3400" dirty="0">
                <a:latin typeface="Times New Roman" panose="02020603050405020304" pitchFamily="18" charset="0"/>
                <a:cs typeface="Times New Roman" panose="02020603050405020304" pitchFamily="18" charset="0"/>
              </a:rPr>
              <a:t>1]TAdetokunbo A. Adenowo, Jonathan C. Anyl, James A. Akobada, “Internet of Things based </a:t>
            </a:r>
            <a:r>
              <a:rPr lang="en-IN" sz="3400">
                <a:latin typeface="Times New Roman" panose="02020603050405020304" pitchFamily="18" charset="0"/>
                <a:cs typeface="Times New Roman" panose="02020603050405020304" pitchFamily="18" charset="0"/>
              </a:rPr>
              <a:t>Pet Feeder automation </a:t>
            </a:r>
            <a:r>
              <a:rPr lang="en-IN" sz="3400" dirty="0">
                <a:latin typeface="Times New Roman" panose="02020603050405020304" pitchFamily="18" charset="0"/>
                <a:cs typeface="Times New Roman" panose="02020603050405020304" pitchFamily="18" charset="0"/>
              </a:rPr>
              <a:t>Using Raspberry Pi” International Journal of Scientific &amp; Research. Volume 11, Issue 8,August 2020.</a:t>
            </a:r>
          </a:p>
          <a:p>
            <a:pPr algn="just"/>
            <a:r>
              <a:rPr lang="en-IN" sz="3400" dirty="0">
                <a:latin typeface="Times New Roman" panose="02020603050405020304" pitchFamily="18" charset="0"/>
                <a:cs typeface="Times New Roman" panose="02020603050405020304" pitchFamily="18" charset="0"/>
              </a:rPr>
              <a:t>[2] M. Ibrahim, h. Zakaria, and E.W. Xian, “Pet food autofeeder by using Arduino,” In IOP Conference series:Materials science and engineering, Volume 670, No.1, November 2019, p. 012069, IOP Publishing.</a:t>
            </a:r>
          </a:p>
          <a:p>
            <a:pPr algn="just"/>
            <a:r>
              <a:rPr lang="en-IN" sz="3400" dirty="0">
                <a:latin typeface="Times New Roman" panose="02020603050405020304" pitchFamily="18" charset="0"/>
                <a:cs typeface="Times New Roman" panose="02020603050405020304" pitchFamily="18" charset="0"/>
              </a:rPr>
              <a:t>[3] Hifengfang, Lidaxu, Yunqiangzhu, Jiaerhengahati, Huanpei, Jianwuyan, Andzhihuiliu (2014), ‘An Integrated System for Regional Environmental Monitoring and Management Based On IoT ' IEEETransactions On Industrial Informatics, vol. 10, no.2, pp. 1596-1605.</a:t>
            </a:r>
          </a:p>
          <a:p>
            <a:pPr algn="just"/>
            <a:r>
              <a:rPr lang="en-IN" sz="3400" dirty="0">
                <a:latin typeface="Times New Roman" panose="02020603050405020304" pitchFamily="18" charset="0"/>
                <a:cs typeface="Times New Roman" panose="02020603050405020304" pitchFamily="18" charset="0"/>
              </a:rPr>
              <a:t>[4] David Naranjo-Hern´andez, Laura M. Roa, Fellow, Javier Reina-</a:t>
            </a:r>
            <a:r>
              <a:rPr lang="en-IN" sz="3400" dirty="0" err="1">
                <a:latin typeface="Times New Roman" panose="02020603050405020304" pitchFamily="18" charset="0"/>
                <a:cs typeface="Times New Roman" panose="02020603050405020304" pitchFamily="18" charset="0"/>
              </a:rPr>
              <a:t>Tosina</a:t>
            </a:r>
            <a:r>
              <a:rPr lang="en-IN" sz="3400" dirty="0">
                <a:latin typeface="Times New Roman" panose="02020603050405020304" pitchFamily="18" charset="0"/>
                <a:cs typeface="Times New Roman" panose="02020603050405020304" pitchFamily="18" charset="0"/>
              </a:rPr>
              <a:t>, Senior Member IEEE, and Miguel´ Angel Estudillo - Valderrama (2012), ‘So M: A Smart Sensor for Human Activity Monitoring and Assisted Healthy Ageing' IEEE Transactions on Biomedical Engineering, vol. 59, no. 11, pp. 3177-3184.</a:t>
            </a:r>
          </a:p>
          <a:p>
            <a:pPr algn="just"/>
            <a:r>
              <a:rPr lang="en-IN" sz="3400" dirty="0">
                <a:latin typeface="Times New Roman" panose="02020603050405020304" pitchFamily="18" charset="0"/>
                <a:cs typeface="Times New Roman" panose="02020603050405020304" pitchFamily="18" charset="0"/>
              </a:rPr>
              <a:t>[5] Seung-Chul Son, Nak-Woo Kim, Byung-Tak Lee Chae Ho Cho, and Jo </a:t>
            </a:r>
            <a:r>
              <a:rPr lang="en-IN" sz="3400" dirty="0" err="1">
                <a:latin typeface="Times New Roman" panose="02020603050405020304" pitchFamily="18" charset="0"/>
                <a:cs typeface="Times New Roman" panose="02020603050405020304" pitchFamily="18" charset="0"/>
              </a:rPr>
              <a:t>Woon</a:t>
            </a:r>
            <a:r>
              <a:rPr lang="en-IN" sz="3400" dirty="0">
                <a:latin typeface="Times New Roman" panose="02020603050405020304" pitchFamily="18" charset="0"/>
                <a:cs typeface="Times New Roman" panose="02020603050405020304" pitchFamily="18" charset="0"/>
              </a:rPr>
              <a:t> Chong (2016) , ' A TimeSynchronization Technique for CoAP - based Home Automation Systems ' IEEE Transactions on Consumer Electronics, vol. 62, no. 1,pp. 10-16.</a:t>
            </a:r>
          </a:p>
          <a:p>
            <a:pPr algn="just"/>
            <a:r>
              <a:rPr lang="en-IN" sz="3400" dirty="0">
                <a:latin typeface="Times New Roman" panose="02020603050405020304" pitchFamily="18" charset="0"/>
                <a:cs typeface="Times New Roman" panose="02020603050405020304" pitchFamily="18" charset="0"/>
              </a:rPr>
              <a:t>[6] Jaeseok Yun, Il - Yeop Ahn, Nak -Myung Kim (2015),' A Device Software Platform for Consumer</a:t>
            </a:r>
          </a:p>
        </p:txBody>
      </p:sp>
      <p:sp>
        <p:nvSpPr>
          <p:cNvPr id="4" name="Slide Number Placeholder 3">
            <a:extLst>
              <a:ext uri="{FF2B5EF4-FFF2-40B4-BE49-F238E27FC236}">
                <a16:creationId xmlns:a16="http://schemas.microsoft.com/office/drawing/2014/main" id="{4A54BA30-C527-F667-4421-C31EC2A2C82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30</a:t>
            </a:fld>
            <a:endParaRPr lang="en-US"/>
          </a:p>
        </p:txBody>
      </p:sp>
    </p:spTree>
    <p:extLst>
      <p:ext uri="{BB962C8B-B14F-4D97-AF65-F5344CB8AC3E}">
        <p14:creationId xmlns:p14="http://schemas.microsoft.com/office/powerpoint/2010/main" val="24326222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BD63B-E80F-BF6A-CCAF-59E641445F4E}"/>
              </a:ext>
            </a:extLst>
          </p:cNvPr>
          <p:cNvSpPr>
            <a:spLocks noGrp="1"/>
          </p:cNvSpPr>
          <p:nvPr>
            <p:ph type="title"/>
          </p:nvPr>
        </p:nvSpPr>
        <p:spPr>
          <a:xfrm>
            <a:off x="1438102" y="266007"/>
            <a:ext cx="9982200" cy="1491183"/>
          </a:xfrm>
        </p:spPr>
        <p:txBody>
          <a:bodyPr>
            <a:normAutofit fontScale="90000"/>
          </a:bodyPr>
          <a:lstStyle/>
          <a:p>
            <a:pPr marL="0" marR="0" lvl="0" indent="0" rtl="0">
              <a:lnSpc>
                <a:spcPct val="90000"/>
              </a:lnSpc>
              <a:spcBef>
                <a:spcPts val="0"/>
              </a:spcBef>
              <a:spcAft>
                <a:spcPts val="0"/>
              </a:spcAft>
            </a:pPr>
            <a:r>
              <a:rPr lang="en-US" sz="4000" i="0" u="none" strike="noStrike" cap="none" dirty="0">
                <a:solidFill>
                  <a:srgbClr val="002060"/>
                </a:solidFill>
                <a:latin typeface="Times New Roman"/>
                <a:ea typeface="Times New Roman"/>
                <a:cs typeface="Times New Roman"/>
                <a:sym typeface="Times New Roman"/>
              </a:rPr>
              <a:t>VIDYA JYOTHI INSTITUTE OF TECHNOLOGY </a:t>
            </a:r>
            <a:br>
              <a:rPr lang="en-US" sz="4000" i="0" u="none" strike="noStrike" cap="none" dirty="0">
                <a:solidFill>
                  <a:srgbClr val="002060"/>
                </a:solidFill>
                <a:latin typeface="Times New Roman"/>
                <a:ea typeface="Times New Roman"/>
                <a:cs typeface="Times New Roman"/>
                <a:sym typeface="Times New Roman"/>
              </a:rPr>
            </a:br>
            <a:r>
              <a:rPr lang="en-US" sz="4000" i="0" u="none" strike="noStrike" cap="none" dirty="0">
                <a:solidFill>
                  <a:srgbClr val="002060"/>
                </a:solidFill>
                <a:latin typeface="Times New Roman"/>
                <a:ea typeface="Times New Roman"/>
                <a:cs typeface="Times New Roman"/>
                <a:sym typeface="Times New Roman"/>
              </a:rPr>
              <a:t>Aziz Nagar, Hyderabad - 500075</a:t>
            </a:r>
            <a:br>
              <a:rPr lang="en-US" sz="4400" i="0" u="none" strike="noStrike" cap="none" dirty="0">
                <a:solidFill>
                  <a:srgbClr val="000000"/>
                </a:solidFill>
                <a:latin typeface="Arial"/>
                <a:ea typeface="Arial"/>
                <a:cs typeface="Arial"/>
                <a:sym typeface="Arial"/>
              </a:rPr>
            </a:br>
            <a:endParaRPr lang="en-IN" dirty="0"/>
          </a:p>
        </p:txBody>
      </p:sp>
      <p:sp>
        <p:nvSpPr>
          <p:cNvPr id="3" name="Text Placeholder 2">
            <a:extLst>
              <a:ext uri="{FF2B5EF4-FFF2-40B4-BE49-F238E27FC236}">
                <a16:creationId xmlns:a16="http://schemas.microsoft.com/office/drawing/2014/main" id="{D97BFEEA-7D55-7766-3B5B-FD90E91D6F6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58C99A6-79D0-B046-53EF-5ADB54F3A34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31</a:t>
            </a:fld>
            <a:endParaRPr lang="en-US"/>
          </a:p>
        </p:txBody>
      </p:sp>
      <p:pic>
        <p:nvPicPr>
          <p:cNvPr id="6" name="Picture 5">
            <a:extLst>
              <a:ext uri="{FF2B5EF4-FFF2-40B4-BE49-F238E27FC236}">
                <a16:creationId xmlns:a16="http://schemas.microsoft.com/office/drawing/2014/main" id="{CF8779C7-88F2-2CF2-944A-CCF68F9272C9}"/>
              </a:ext>
            </a:extLst>
          </p:cNvPr>
          <p:cNvPicPr>
            <a:picLocks noChangeAspect="1"/>
          </p:cNvPicPr>
          <p:nvPr/>
        </p:nvPicPr>
        <p:blipFill>
          <a:blip r:embed="rId2"/>
          <a:stretch>
            <a:fillRect/>
          </a:stretch>
        </p:blipFill>
        <p:spPr>
          <a:xfrm>
            <a:off x="3236783" y="2938493"/>
            <a:ext cx="4438273" cy="1280271"/>
          </a:xfrm>
          <a:prstGeom prst="rect">
            <a:avLst/>
          </a:prstGeom>
        </p:spPr>
      </p:pic>
    </p:spTree>
    <p:extLst>
      <p:ext uri="{BB962C8B-B14F-4D97-AF65-F5344CB8AC3E}">
        <p14:creationId xmlns:p14="http://schemas.microsoft.com/office/powerpoint/2010/main" val="3275797189"/>
      </p:ext>
    </p:extLst>
  </p:cSld>
  <p:clrMapOvr>
    <a:masterClrMapping/>
  </p:clrMapOvr>
</p:sld>
</file>

<file path=ppt/theme/theme1.xml><?xml version="1.0" encoding="utf-8"?>
<a:theme xmlns:a="http://schemas.openxmlformats.org/drawingml/2006/main" name="R19-Mini-Projects">
  <a:themeElements>
    <a:clrScheme name="Blue Green">
      <a:dk1>
        <a:srgbClr val="000000"/>
      </a:dk1>
      <a:lt1>
        <a:srgbClr val="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247</TotalTime>
  <Words>3356</Words>
  <Application>Microsoft Office PowerPoint</Application>
  <PresentationFormat>Widescreen</PresentationFormat>
  <Paragraphs>223</Paragraphs>
  <Slides>31</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Times New Roman</vt:lpstr>
      <vt:lpstr>R19-Mini-Projects</vt:lpstr>
      <vt:lpstr>IOT-based Dog Daycare Robotic System</vt:lpstr>
      <vt:lpstr>Abstract</vt:lpstr>
      <vt:lpstr>Abstract</vt:lpstr>
      <vt:lpstr>Introduction</vt:lpstr>
      <vt:lpstr>Literature Survey</vt:lpstr>
      <vt:lpstr>Existing system</vt:lpstr>
      <vt:lpstr>Proposed System (Innovation)</vt:lpstr>
      <vt:lpstr>Proposed System (Innovation)</vt:lpstr>
      <vt:lpstr>Proposed System (Innovation)</vt:lpstr>
      <vt:lpstr>Proposed System (Innovation)</vt:lpstr>
      <vt:lpstr>Objective</vt:lpstr>
      <vt:lpstr>Methodology</vt:lpstr>
      <vt:lpstr>Methodology</vt:lpstr>
      <vt:lpstr>Hardware Requirement</vt:lpstr>
      <vt:lpstr>Hardware Requirement</vt:lpstr>
      <vt:lpstr>Software Requirement</vt:lpstr>
      <vt:lpstr>Software Requirement</vt:lpstr>
      <vt:lpstr>Block Diagram</vt:lpstr>
      <vt:lpstr>System Architecture</vt:lpstr>
      <vt:lpstr>System Design:UML  Diagram</vt:lpstr>
      <vt:lpstr>Sequence Diagram</vt:lpstr>
      <vt:lpstr>Activity Diagram</vt:lpstr>
      <vt:lpstr>Algorithm</vt:lpstr>
      <vt:lpstr>Algorithm</vt:lpstr>
      <vt:lpstr>Algorithm</vt:lpstr>
      <vt:lpstr>Algorithm</vt:lpstr>
      <vt:lpstr>Testing and Results</vt:lpstr>
      <vt:lpstr>Testing and Results</vt:lpstr>
      <vt:lpstr>Conclusion</vt:lpstr>
      <vt:lpstr>References</vt:lpstr>
      <vt:lpstr>VIDYA JYOTHI INSTITUTE OF TECHNOLOGY  Aziz Nagar, Hyderabad - 500075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IOT-based Dog Daycare Robot</dc:title>
  <dc:creator>asus</dc:creator>
  <cp:lastModifiedBy>Korukonda Shivanaina</cp:lastModifiedBy>
  <cp:revision>59</cp:revision>
  <dcterms:created xsi:type="dcterms:W3CDTF">2022-08-08T09:31:00Z</dcterms:created>
  <dcterms:modified xsi:type="dcterms:W3CDTF">2024-04-01T06:41:51Z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F28C460D186F412DB808F16F49208EC6</vt:lpwstr>
  </property>
  <property fmtid="{D5CDD505-2E9C-101B-9397-08002B2CF9AE}" pid="3" name="KSOProductBuildVer">
    <vt:lpwstr>2057-11.2.0.11516</vt:lpwstr>
  </property>
</Properties>
</file>